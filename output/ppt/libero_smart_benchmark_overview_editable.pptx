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dff3f63d8d4ca2" /><Relationship Type="http://schemas.openxmlformats.org/officeDocument/2006/relationships/extended-properties" Target="/docProps/app.xml" Id="Rf597f7a8b93644a1" /><Relationship Type="http://schemas.openxmlformats.org/officeDocument/2006/relationships/officeDocument" Target="/ppt/presentation.xml" Id="Rdf6dd57541a74d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5fa994e6854e6a"/>
  </p:sldMasterIdLst>
  <p:notesMasterIdLst>
    <p:notesMasterId xmlns:r="http://schemas.openxmlformats.org/officeDocument/2006/relationships" r:id="Rd2b3173b5cec48bc"/>
  </p:notesMasterIdLst>
  <p:sldIdLst>
    <p:sldId xmlns:r="http://schemas.openxmlformats.org/officeDocument/2006/relationships" id="256" r:id="Ra265e452c9394b9e"/>
  </p:sldIdLst>
  <p:sldSz cx="13716000" cy="10572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1876216a1b4f85" /><Relationship Type="http://schemas.openxmlformats.org/officeDocument/2006/relationships/slideMaster" Target="/ppt/slideMasters/slideMaster1.xml" Id="R875fa994e6854e6a" /><Relationship Type="http://schemas.openxmlformats.org/officeDocument/2006/relationships/notesMaster" Target="/ppt/notesMasters/notesMaster1.xml" Id="Rd2b3173b5cec48bc" /><Relationship Type="http://schemas.openxmlformats.org/officeDocument/2006/relationships/presProps" Target="/ppt/presProps.xml" Id="R3923ca600fa14b39" /><Relationship Type="http://schemas.openxmlformats.org/officeDocument/2006/relationships/tableStyles" Target="/ppt/tableStyles.xml" Id="R7ca3b8608ea740ee" /><Relationship Type="http://schemas.openxmlformats.org/officeDocument/2006/relationships/slide" Target="/ppt/slides/slide1.xml" Id="Ra265e452c9394b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4b81ffc14746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d942d930484a26" /><Relationship Type="http://schemas.openxmlformats.org/officeDocument/2006/relationships/notesMaster" Target="/ppt/notesMasters/notesMaster1.xml" Id="R49df2c9375064f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sections/libero_smart.tex (LIBERO-SMART section); tables/table_smart_suite_composition.tex; sections/appendix_benchmark_protocol.tex, especially app:smart-init, app:smart-contract, app:smart-aggregation, app:smart-training-boundary; sections/abstract.tex; sections/experiments.tex. Three suites × 40 tasks × (10 macro layouts × 5 local variants) = 6,000 evaluation instances, 2,000 per suite. Native vector scenes and the displayed commands are illustrative examples of the documented task requirements, not simulator screenshots, exact task-ID reproductions, or model rollout evidence. Control comparisons share a physically executable intermediate state within each instance. Primary contracts check G (current target), H (history-dependent process requirements), R (semantically valid and stable result). Direct policies require a successful window at or before the original horizon and 30 subsequent action steps; agentic systems are assessed at termination without an extra 30-step window, while task-specific stability requirements still apply. Goal-only is auxiliary. Each evaluation protocol matches tasks, instances, interaction budgets and contracts across models; the two protocols are not asserted to have identical aggregation rules. Held-out evaluation trajectories are excluded from adaptation. Styling follows the author-provided Figure 1: Arial with muted blue/green/brown and thin rounded outlines.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29f618d11a4b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1994e5644d4e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ed8b537f964d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4f901b42034e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f06a35cc964bf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40743868af41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E006A4-A814-4792-9DAC-99A868F6E7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3994150"/>
            <a:ext cx="10972800" cy="152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B5B1D21-2286-4248-A38E-F2A961A7F8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57400" y="5815013"/>
            <a:ext cx="9601200" cy="117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5836190-827C-4812-A415-8B1B620C0E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4405313"/>
            <a:ext cx="109728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ECA2B9-0C2D-48CF-A216-2C7E9603BA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822325"/>
            <a:ext cx="12172950" cy="1292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2D4DE3A-82EC-468B-827D-E5EE4E45A4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936875"/>
            <a:ext cx="12172950" cy="657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27EBF3-DCDF-44B1-83B9-DFADF4B7B1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822325"/>
            <a:ext cx="12172950" cy="1292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F256F4-61E1-402E-8CA6-87DCEB04C1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936875"/>
            <a:ext cx="5657850" cy="657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2E9FB64-8DDB-449B-AD5F-098732B1A2D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86625" y="2936875"/>
            <a:ext cx="5657850" cy="657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D00CD4-BC8A-43DF-B2D8-1F7C219F79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822325"/>
            <a:ext cx="12172950" cy="1292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309D4D-30D3-44F6-A159-F9DCF23607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936875"/>
            <a:ext cx="5657850" cy="657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6c39272c8c430d" /><Relationship Type="http://schemas.openxmlformats.org/officeDocument/2006/relationships/slideLayout" Target="/ppt/slideLayouts/slideLayout1.xml" Id="R67f321de619e41bd" /><Relationship Type="http://schemas.openxmlformats.org/officeDocument/2006/relationships/slideLayout" Target="/ppt/slideLayouts/slideLayout2.xml" Id="R960dd047133045a4" /><Relationship Type="http://schemas.openxmlformats.org/officeDocument/2006/relationships/slideLayout" Target="/ppt/slideLayouts/slideLayout3.xml" Id="R08287e31881d4026" /><Relationship Type="http://schemas.openxmlformats.org/officeDocument/2006/relationships/slideLayout" Target="/ppt/slideLayouts/slideLayout4.xml" Id="Reecf8d67d22c4356" /><Relationship Type="http://schemas.openxmlformats.org/officeDocument/2006/relationships/slideLayout" Target="/ppt/slideLayouts/slideLayout5.xml" Id="R84cd6a4110a34600" /><Relationship Type="http://schemas.openxmlformats.org/officeDocument/2006/relationships/slideLayout" Target="/ppt/slideLayouts/slideLayout6.xml" Id="Rc7786ca477b147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f321de619e41bd"/>
    <p:sldLayoutId xmlns:r="http://schemas.openxmlformats.org/officeDocument/2006/relationships" id="2147483650" r:id="R960dd047133045a4"/>
    <p:sldLayoutId xmlns:r="http://schemas.openxmlformats.org/officeDocument/2006/relationships" id="2147483651" r:id="R08287e31881d4026"/>
    <p:sldLayoutId xmlns:r="http://schemas.openxmlformats.org/officeDocument/2006/relationships" id="2147483652" r:id="Reecf8d67d22c4356"/>
    <p:sldLayoutId xmlns:r="http://schemas.openxmlformats.org/officeDocument/2006/relationships" id="2147483653" r:id="R84cd6a4110a34600"/>
    <p:sldLayoutId xmlns:r="http://schemas.openxmlformats.org/officeDocument/2006/relationships" id="2147483654" r:id="Rc7786ca477b147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31cae7b6544600" /><Relationship Type="http://schemas.openxmlformats.org/officeDocument/2006/relationships/notesSlide" Target="/ppt/notesSlides/notesSlide1.xml" Id="Rf9ab63fbb31748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" name="Benchmark title">
            <a:extLst xmlns:a="http://schemas.openxmlformats.org/drawingml/2006/main">
              <a:ext uri="{FF2B5EF4-FFF2-40B4-BE49-F238E27FC236}">
                <a16:creationId xmlns:a16="http://schemas.microsoft.com/office/drawing/2014/main" id="{F1C9A7DA-8D8B-48E6-837F-FA832BED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9550"/>
            <a:ext cx="5715000" cy="528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486C84"/>
                </a:solidFill>
                <a:latin typeface="Arial"/>
                <a:ea typeface="Arial"/>
                <a:cs typeface="Arial"/>
              </a:rPr>
              <a:t>LIBERO-SMART</a:t>
            </a:r>
          </a:p>
        </p:txBody>
      </p:sp>
      <p:sp>
        <p:nvSpPr>
          <p:cNvPr id="2" name="Benchmark scale">
            <a:extLst xmlns:a="http://schemas.openxmlformats.org/drawingml/2006/main">
              <a:ext uri="{FF2B5EF4-FFF2-40B4-BE49-F238E27FC236}">
                <a16:creationId xmlns:a16="http://schemas.microsoft.com/office/drawing/2014/main" id="{6FC6460A-4891-4C23-916E-D68A563E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"/>
            <a:ext cx="5791200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2025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r">
              <a:defRPr sz="2025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r">
              <a:defRPr sz="2025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r">
              <a:defRPr sz="2025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r">
              <a:defRPr sz="2025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r">
              <a:defRPr sz="2025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r">
              <a:defRPr sz="2025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r">
              <a:defRPr sz="2025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r">
              <a:defRPr sz="2025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r">
              <a:defRPr sz="2025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2025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B3E4B"/>
                </a:solidFill>
                <a:latin typeface="Arial"/>
                <a:ea typeface="Arial"/>
                <a:cs typeface="Arial"/>
              </a:rPr>
              <a:t>120 tasks    6,000 evaluation instances</a:t>
            </a:r>
          </a:p>
        </p:txBody>
      </p:sp>
      <p:sp>
        <p:nvSpPr>
          <p:cNvPr id="3" name="Evaluation focus">
            <a:extLst xmlns:a="http://schemas.openxmlformats.org/drawingml/2006/main">
              <a:ext uri="{FF2B5EF4-FFF2-40B4-BE49-F238E27FC236}">
                <a16:creationId xmlns:a16="http://schemas.microsoft.com/office/drawing/2014/main" id="{32CE56CF-30D2-4B46-9DA3-D5BB1F65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52475"/>
            <a:ext cx="12573000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7D89"/>
                </a:solidFill>
                <a:latin typeface="Arial"/>
                <a:ea typeface="Arial"/>
                <a:cs typeface="Arial"/>
              </a:rPr>
              <a:t>Instruction following over familiar manipulation skills</a:t>
            </a:r>
          </a:p>
        </p:txBody>
      </p:sp>
      <p:sp>
        <p:nvSpPr>
          <p:cNvPr id="4" name="Header divider">
            <a:extLst xmlns:a="http://schemas.openxmlformats.org/drawingml/2006/main">
              <a:ext uri="{FF2B5EF4-FFF2-40B4-BE49-F238E27FC236}">
                <a16:creationId xmlns:a16="http://schemas.microsoft.com/office/drawing/2014/main" id="{E15D763E-D713-4B43-8838-66821316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200150"/>
            <a:ext cx="13106400" cy="95"/>
          </a:xfrm>
          <a:custGeom xmlns:a="http://schemas.openxmlformats.org/drawingml/2006/main">
            <a:pathLst>
              <a:path w="13106400" h="95">
                <a:moveTo>
                  <a:pt x="0" y="0"/>
                </a:moveTo>
                <a:lnTo>
                  <a:pt x="13106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FDDE0"/>
            </a:solidFill>
            <a:prstDash val="solid"/>
          </a:ln>
        </p:spPr>
      </p:sp>
      <p:sp>
        <p:nvSpPr>
          <p:cNvPr id="5" name="(a) Semantic panel">
            <a:extLst xmlns:a="http://schemas.openxmlformats.org/drawingml/2006/main">
              <a:ext uri="{FF2B5EF4-FFF2-40B4-BE49-F238E27FC236}">
                <a16:creationId xmlns:a16="http://schemas.microsoft.com/office/drawing/2014/main" id="{BC4BD4D4-CAB0-4B8B-AE60-D6700679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90650"/>
            <a:ext cx="4267200" cy="497205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CCD8"/>
            </a:solidFill>
            <a:prstDash val="solid"/>
          </a:ln>
        </p:spPr>
      </p:sp>
      <p:sp>
        <p:nvSpPr>
          <p:cNvPr id="6" name="(a) Semantic">
            <a:extLst xmlns:a="http://schemas.openxmlformats.org/drawingml/2006/main">
              <a:ext uri="{FF2B5EF4-FFF2-40B4-BE49-F238E27FC236}">
                <a16:creationId xmlns:a16="http://schemas.microsoft.com/office/drawing/2014/main" id="{4D52B3F2-F02A-449F-8B6D-B64AF9E0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33525"/>
            <a:ext cx="392430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86C84"/>
                </a:solidFill>
                <a:latin typeface="Arial"/>
                <a:ea typeface="Arial"/>
                <a:cs typeface="Arial"/>
              </a:rPr>
              <a:t>(a) Semantic</a:t>
            </a:r>
          </a:p>
        </p:txBody>
      </p:sp>
      <p:sp>
        <p:nvSpPr>
          <p:cNvPr id="7" name="(a) Semantic capability">
            <a:extLst xmlns:a="http://schemas.openxmlformats.org/drawingml/2006/main">
              <a:ext uri="{FF2B5EF4-FFF2-40B4-BE49-F238E27FC236}">
                <a16:creationId xmlns:a16="http://schemas.microsoft.com/office/drawing/2014/main" id="{8E409DBC-A717-4804-B589-DB0A4523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52625"/>
            <a:ext cx="3924300" cy="295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63" b="0">
                <a:solidFill>
                  <a:srgbClr val="486C84"/>
                </a:solidFill>
                <a:latin typeface="Arial"/>
                <a:ea typeface="Arial"/>
                <a:cs typeface="Arial"/>
              </a:defRPr>
            </a:defPPr>
            <a:lvl1pPr algn="l">
              <a:defRPr sz="1763" b="0">
                <a:solidFill>
                  <a:srgbClr val="486C84"/>
                </a:solidFill>
                <a:latin typeface="Arial"/>
                <a:ea typeface="Arial"/>
                <a:cs typeface="Arial"/>
              </a:defRPr>
            </a:lvl1pPr>
            <a:lvl2pPr algn="l">
              <a:defRPr sz="1763" b="0">
                <a:solidFill>
                  <a:srgbClr val="486C84"/>
                </a:solidFill>
                <a:latin typeface="Arial"/>
                <a:ea typeface="Arial"/>
                <a:cs typeface="Arial"/>
              </a:defRPr>
            </a:lvl2pPr>
            <a:lvl3pPr algn="l">
              <a:defRPr sz="1763" b="0">
                <a:solidFill>
                  <a:srgbClr val="486C84"/>
                </a:solidFill>
                <a:latin typeface="Arial"/>
                <a:ea typeface="Arial"/>
                <a:cs typeface="Arial"/>
              </a:defRPr>
            </a:lvl3pPr>
            <a:lvl4pPr algn="l">
              <a:defRPr sz="1763" b="0">
                <a:solidFill>
                  <a:srgbClr val="486C84"/>
                </a:solidFill>
                <a:latin typeface="Arial"/>
                <a:ea typeface="Arial"/>
                <a:cs typeface="Arial"/>
              </a:defRPr>
            </a:lvl4pPr>
            <a:lvl5pPr algn="l">
              <a:defRPr sz="1763" b="0">
                <a:solidFill>
                  <a:srgbClr val="486C84"/>
                </a:solidFill>
                <a:latin typeface="Arial"/>
                <a:ea typeface="Arial"/>
                <a:cs typeface="Arial"/>
              </a:defRPr>
            </a:lvl5pPr>
            <a:lvl6pPr algn="l">
              <a:defRPr sz="1763" b="0">
                <a:solidFill>
                  <a:srgbClr val="486C84"/>
                </a:solidFill>
                <a:latin typeface="Arial"/>
                <a:ea typeface="Arial"/>
                <a:cs typeface="Arial"/>
              </a:defRPr>
            </a:lvl6pPr>
            <a:lvl7pPr algn="l">
              <a:defRPr sz="1763" b="0">
                <a:solidFill>
                  <a:srgbClr val="486C84"/>
                </a:solidFill>
                <a:latin typeface="Arial"/>
                <a:ea typeface="Arial"/>
                <a:cs typeface="Arial"/>
              </a:defRPr>
            </a:lvl7pPr>
            <a:lvl8pPr algn="l">
              <a:defRPr sz="1763" b="0">
                <a:solidFill>
                  <a:srgbClr val="486C84"/>
                </a:solidFill>
                <a:latin typeface="Arial"/>
                <a:ea typeface="Arial"/>
                <a:cs typeface="Arial"/>
              </a:defRPr>
            </a:lvl8pPr>
            <a:lvl9pPr algn="l">
              <a:defRPr sz="1763" b="0">
                <a:solidFill>
                  <a:srgbClr val="486C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63" b="0">
                <a:solidFill>
                  <a:srgbClr val="486C84"/>
                </a:solidFill>
                <a:latin typeface="Arial"/>
                <a:ea typeface="Arial"/>
                <a:cs typeface="Arial"/>
              </a:defRPr>
            </a:pPr>
            <a:r>
              <a:rPr sz="1763" b="0">
                <a:solidFill>
                  <a:srgbClr val="486C84"/>
                </a:solidFill>
                <a:latin typeface="Arial"/>
                <a:ea typeface="Arial"/>
                <a:cs typeface="Arial"/>
              </a:rPr>
              <a:t>Fine-grained semantic following</a:t>
            </a:r>
          </a:p>
        </p:txBody>
      </p:sp>
      <p:sp>
        <p:nvSpPr>
          <p:cNvPr id="8" name="(a) Semantic composition">
            <a:extLst xmlns:a="http://schemas.openxmlformats.org/drawingml/2006/main">
              <a:ext uri="{FF2B5EF4-FFF2-40B4-BE49-F238E27FC236}">
                <a16:creationId xmlns:a16="http://schemas.microsoft.com/office/drawing/2014/main" id="{533493AA-878E-4E73-9CB4-4022B7BB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14575"/>
            <a:ext cx="392430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3E4B"/>
                </a:solidFill>
                <a:latin typeface="Arial"/>
                <a:ea typeface="Arial"/>
                <a:cs typeface="Arial"/>
              </a:rPr>
              <a:t>40 tasks    2,000 instances</a:t>
            </a:r>
          </a:p>
        </p:txBody>
      </p:sp>
      <p:sp>
        <p:nvSpPr>
          <p:cNvPr id="9" name="(a) Semantic instruction">
            <a:extLst xmlns:a="http://schemas.openxmlformats.org/drawingml/2006/main">
              <a:ext uri="{FF2B5EF4-FFF2-40B4-BE49-F238E27FC236}">
                <a16:creationId xmlns:a16="http://schemas.microsoft.com/office/drawing/2014/main" id="{3C03C875-0920-446D-9BB9-F217D2F0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3962400" cy="714375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(a) Semantic illustrative command 0">
            <a:extLst xmlns:a="http://schemas.openxmlformats.org/drawingml/2006/main">
              <a:ext uri="{FF2B5EF4-FFF2-40B4-BE49-F238E27FC236}">
                <a16:creationId xmlns:a16="http://schemas.microsoft.com/office/drawing/2014/main" id="{BF61F84D-F348-4C4D-A189-A06AA567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90825"/>
            <a:ext cx="3695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B3E4B"/>
                </a:solidFill>
                <a:latin typeface="Arial"/>
                <a:ea typeface="Arial"/>
                <a:cs typeface="Arial"/>
              </a:rPr>
              <a:t>Pick up only the bowl.</a:t>
            </a:r>
          </a:p>
        </p:txBody>
      </p:sp>
      <p:sp>
        <p:nvSpPr>
          <p:cNvPr id="11" name="(a) Semantic illustrative command 1">
            <a:extLst xmlns:a="http://schemas.openxmlformats.org/drawingml/2006/main">
              <a:ext uri="{FF2B5EF4-FFF2-40B4-BE49-F238E27FC236}">
                <a16:creationId xmlns:a16="http://schemas.microsoft.com/office/drawing/2014/main" id="{89D5C43D-2C81-421F-9495-10279476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3695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B3E4B"/>
                </a:solidFill>
                <a:latin typeface="Arial"/>
                <a:ea typeface="Arial"/>
                <a:cs typeface="Arial"/>
              </a:rPr>
              <a:t>Keep holding it.</a:t>
            </a:r>
          </a:p>
        </p:txBody>
      </p:sp>
      <p:sp>
        <p:nvSpPr>
          <p:cNvPr id="12" name="Schematic tabletop scene">
            <a:extLst xmlns:a="http://schemas.openxmlformats.org/drawingml/2006/main">
              <a:ext uri="{FF2B5EF4-FFF2-40B4-BE49-F238E27FC236}">
                <a16:creationId xmlns:a16="http://schemas.microsoft.com/office/drawing/2014/main" id="{CC09C9E1-0431-4A98-9535-3CEA8AFA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09975"/>
            <a:ext cx="3924300" cy="1743075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E4ECEF"/>
            </a:solidFill>
            <a:prstDash val="solid"/>
          </a:ln>
        </p:spPr>
      </p:sp>
      <p:sp>
        <p:nvSpPr>
          <p:cNvPr id="13" name="Table surface">
            <a:extLst xmlns:a="http://schemas.openxmlformats.org/drawingml/2006/main">
              <a:ext uri="{FF2B5EF4-FFF2-40B4-BE49-F238E27FC236}">
                <a16:creationId xmlns:a16="http://schemas.microsoft.com/office/drawing/2014/main" id="{4A796956-3511-42B6-87E4-8BE60541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3695700" cy="95"/>
          </a:xfrm>
          <a:custGeom xmlns:a="http://schemas.openxmlformats.org/drawingml/2006/main">
            <a:pathLst>
              <a:path w="3695700" h="95">
                <a:moveTo>
                  <a:pt x="0" y="0"/>
                </a:moveTo>
                <a:lnTo>
                  <a:pt x="3695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D2DFE5"/>
            </a:solidFill>
            <a:prstDash val="solid"/>
          </a:ln>
        </p:spPr>
      </p:sp>
      <p:sp>
        <p:nvSpPr>
          <p:cNvPr id="14" name="(b) Visual Prompt (Vis) panel">
            <a:extLst xmlns:a="http://schemas.openxmlformats.org/drawingml/2006/main">
              <a:ext uri="{FF2B5EF4-FFF2-40B4-BE49-F238E27FC236}">
                <a16:creationId xmlns:a16="http://schemas.microsoft.com/office/drawing/2014/main" id="{265B0677-1D91-4AC6-9699-37D1406D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390650"/>
            <a:ext cx="4267200" cy="497205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D1C7"/>
            </a:solidFill>
            <a:prstDash val="solid"/>
          </a:ln>
        </p:spPr>
      </p:sp>
      <p:sp>
        <p:nvSpPr>
          <p:cNvPr id="15" name="(b) Visual Prompt (Vis)">
            <a:extLst xmlns:a="http://schemas.openxmlformats.org/drawingml/2006/main">
              <a:ext uri="{FF2B5EF4-FFF2-40B4-BE49-F238E27FC236}">
                <a16:creationId xmlns:a16="http://schemas.microsoft.com/office/drawing/2014/main" id="{B3A5AE3D-2289-4314-A918-DFE0E3A4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33525"/>
            <a:ext cx="392430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F796F"/>
                </a:solidFill>
                <a:latin typeface="Arial"/>
                <a:ea typeface="Arial"/>
                <a:cs typeface="Arial"/>
              </a:rPr>
              <a:t>(b) Visual Prompt (Vis)</a:t>
            </a:r>
          </a:p>
        </p:txBody>
      </p:sp>
      <p:sp>
        <p:nvSpPr>
          <p:cNvPr id="16" name="(b) Visual Prompt (Vis) capability">
            <a:extLst xmlns:a="http://schemas.openxmlformats.org/drawingml/2006/main">
              <a:ext uri="{FF2B5EF4-FFF2-40B4-BE49-F238E27FC236}">
                <a16:creationId xmlns:a16="http://schemas.microsoft.com/office/drawing/2014/main" id="{81F33A84-AAEC-4952-9699-DA92461F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52625"/>
            <a:ext cx="3924300" cy="295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63" b="0">
                <a:solidFill>
                  <a:srgbClr val="4F796F"/>
                </a:solidFill>
                <a:latin typeface="Arial"/>
                <a:ea typeface="Arial"/>
                <a:cs typeface="Arial"/>
              </a:defRPr>
            </a:defPPr>
            <a:lvl1pPr algn="l">
              <a:defRPr sz="1763" b="0">
                <a:solidFill>
                  <a:srgbClr val="4F796F"/>
                </a:solidFill>
                <a:latin typeface="Arial"/>
                <a:ea typeface="Arial"/>
                <a:cs typeface="Arial"/>
              </a:defRPr>
            </a:lvl1pPr>
            <a:lvl2pPr algn="l">
              <a:defRPr sz="1763" b="0">
                <a:solidFill>
                  <a:srgbClr val="4F796F"/>
                </a:solidFill>
                <a:latin typeface="Arial"/>
                <a:ea typeface="Arial"/>
                <a:cs typeface="Arial"/>
              </a:defRPr>
            </a:lvl2pPr>
            <a:lvl3pPr algn="l">
              <a:defRPr sz="1763" b="0">
                <a:solidFill>
                  <a:srgbClr val="4F796F"/>
                </a:solidFill>
                <a:latin typeface="Arial"/>
                <a:ea typeface="Arial"/>
                <a:cs typeface="Arial"/>
              </a:defRPr>
            </a:lvl3pPr>
            <a:lvl4pPr algn="l">
              <a:defRPr sz="1763" b="0">
                <a:solidFill>
                  <a:srgbClr val="4F796F"/>
                </a:solidFill>
                <a:latin typeface="Arial"/>
                <a:ea typeface="Arial"/>
                <a:cs typeface="Arial"/>
              </a:defRPr>
            </a:lvl4pPr>
            <a:lvl5pPr algn="l">
              <a:defRPr sz="1763" b="0">
                <a:solidFill>
                  <a:srgbClr val="4F796F"/>
                </a:solidFill>
                <a:latin typeface="Arial"/>
                <a:ea typeface="Arial"/>
                <a:cs typeface="Arial"/>
              </a:defRPr>
            </a:lvl5pPr>
            <a:lvl6pPr algn="l">
              <a:defRPr sz="1763" b="0">
                <a:solidFill>
                  <a:srgbClr val="4F796F"/>
                </a:solidFill>
                <a:latin typeface="Arial"/>
                <a:ea typeface="Arial"/>
                <a:cs typeface="Arial"/>
              </a:defRPr>
            </a:lvl6pPr>
            <a:lvl7pPr algn="l">
              <a:defRPr sz="1763" b="0">
                <a:solidFill>
                  <a:srgbClr val="4F796F"/>
                </a:solidFill>
                <a:latin typeface="Arial"/>
                <a:ea typeface="Arial"/>
                <a:cs typeface="Arial"/>
              </a:defRPr>
            </a:lvl7pPr>
            <a:lvl8pPr algn="l">
              <a:defRPr sz="1763" b="0">
                <a:solidFill>
                  <a:srgbClr val="4F796F"/>
                </a:solidFill>
                <a:latin typeface="Arial"/>
                <a:ea typeface="Arial"/>
                <a:cs typeface="Arial"/>
              </a:defRPr>
            </a:lvl8pPr>
            <a:lvl9pPr algn="l">
              <a:defRPr sz="1763" b="0">
                <a:solidFill>
                  <a:srgbClr val="4F79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63" b="0">
                <a:solidFill>
                  <a:srgbClr val="4F796F"/>
                </a:solidFill>
                <a:latin typeface="Arial"/>
                <a:ea typeface="Arial"/>
                <a:cs typeface="Arial"/>
              </a:defRPr>
            </a:pPr>
            <a:r>
              <a:rPr sz="1763" b="0">
                <a:solidFill>
                  <a:srgbClr val="4F796F"/>
                </a:solidFill>
                <a:latin typeface="Arial"/>
                <a:ea typeface="Arial"/>
                <a:cs typeface="Arial"/>
              </a:rPr>
              <a:t>Multimodal instruction understanding</a:t>
            </a:r>
          </a:p>
        </p:txBody>
      </p:sp>
      <p:sp>
        <p:nvSpPr>
          <p:cNvPr id="17" name="(b) Visual Prompt (Vis) composition">
            <a:extLst xmlns:a="http://schemas.openxmlformats.org/drawingml/2006/main">
              <a:ext uri="{FF2B5EF4-FFF2-40B4-BE49-F238E27FC236}">
                <a16:creationId xmlns:a16="http://schemas.microsoft.com/office/drawing/2014/main" id="{4F82FB79-926B-41DD-98DA-5DB687F5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14575"/>
            <a:ext cx="392430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3E4B"/>
                </a:solidFill>
                <a:latin typeface="Arial"/>
                <a:ea typeface="Arial"/>
                <a:cs typeface="Arial"/>
              </a:rPr>
              <a:t>40 tasks    2,000 instances</a:t>
            </a:r>
          </a:p>
        </p:txBody>
      </p:sp>
      <p:sp>
        <p:nvSpPr>
          <p:cNvPr id="18" name="(b) Visual Prompt (Vis) instruction">
            <a:extLst xmlns:a="http://schemas.openxmlformats.org/drawingml/2006/main">
              <a:ext uri="{FF2B5EF4-FFF2-40B4-BE49-F238E27FC236}">
                <a16:creationId xmlns:a16="http://schemas.microsoft.com/office/drawing/2014/main" id="{DF8A1408-B513-4DE5-8506-220E7290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24150"/>
            <a:ext cx="3962400" cy="714375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F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(b) Visual Prompt (Vis) illustrative command 0">
            <a:extLst xmlns:a="http://schemas.openxmlformats.org/drawingml/2006/main">
              <a:ext uri="{FF2B5EF4-FFF2-40B4-BE49-F238E27FC236}">
                <a16:creationId xmlns:a16="http://schemas.microsoft.com/office/drawing/2014/main" id="{19EC93F9-0E81-49D8-972F-DE3957D5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90825"/>
            <a:ext cx="3695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B3E4B"/>
                </a:solidFill>
                <a:latin typeface="Arial"/>
                <a:ea typeface="Arial"/>
                <a:cs typeface="Arial"/>
              </a:rPr>
              <a:t>Place the bowl inside</a:t>
            </a:r>
          </a:p>
        </p:txBody>
      </p:sp>
      <p:sp>
        <p:nvSpPr>
          <p:cNvPr id="20" name="(b) Visual Prompt (Vis) illustrative command 1">
            <a:extLst xmlns:a="http://schemas.openxmlformats.org/drawingml/2006/main">
              <a:ext uri="{FF2B5EF4-FFF2-40B4-BE49-F238E27FC236}">
                <a16:creationId xmlns:a16="http://schemas.microsoft.com/office/drawing/2014/main" id="{EB7AEF1D-6506-4650-A96C-EBBA888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67050"/>
            <a:ext cx="3695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B3E4B"/>
                </a:solidFill>
                <a:latin typeface="Arial"/>
                <a:ea typeface="Arial"/>
                <a:cs typeface="Arial"/>
              </a:rPr>
              <a:t>the red circle.</a:t>
            </a:r>
          </a:p>
        </p:txBody>
      </p:sp>
      <p:sp>
        <p:nvSpPr>
          <p:cNvPr id="21" name="Schematic tabletop scene">
            <a:extLst xmlns:a="http://schemas.openxmlformats.org/drawingml/2006/main">
              <a:ext uri="{FF2B5EF4-FFF2-40B4-BE49-F238E27FC236}">
                <a16:creationId xmlns:a16="http://schemas.microsoft.com/office/drawing/2014/main" id="{40A1CCBD-66CE-40EC-A89C-9B7CE698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09975"/>
            <a:ext cx="3924300" cy="1743075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E4ECEF"/>
            </a:solidFill>
            <a:prstDash val="solid"/>
          </a:ln>
        </p:spPr>
      </p:sp>
      <p:sp>
        <p:nvSpPr>
          <p:cNvPr id="22" name="Table surface">
            <a:extLst xmlns:a="http://schemas.openxmlformats.org/drawingml/2006/main">
              <a:ext uri="{FF2B5EF4-FFF2-40B4-BE49-F238E27FC236}">
                <a16:creationId xmlns:a16="http://schemas.microsoft.com/office/drawing/2014/main" id="{D86908AF-4A98-43CA-BB3E-CE32BF8D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95875"/>
            <a:ext cx="3695700" cy="95"/>
          </a:xfrm>
          <a:custGeom xmlns:a="http://schemas.openxmlformats.org/drawingml/2006/main">
            <a:pathLst>
              <a:path w="3695700" h="95">
                <a:moveTo>
                  <a:pt x="0" y="0"/>
                </a:moveTo>
                <a:lnTo>
                  <a:pt x="3695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D2DFE5"/>
            </a:solidFill>
            <a:prstDash val="solid"/>
          </a:ln>
        </p:spPr>
      </p:sp>
      <p:sp>
        <p:nvSpPr>
          <p:cNvPr id="23" name="(c) Control panel">
            <a:extLst xmlns:a="http://schemas.openxmlformats.org/drawingml/2006/main">
              <a:ext uri="{FF2B5EF4-FFF2-40B4-BE49-F238E27FC236}">
                <a16:creationId xmlns:a16="http://schemas.microsoft.com/office/drawing/2014/main" id="{3E24AD0A-A255-4968-A24D-76E22FCB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90650"/>
            <a:ext cx="4267200" cy="497205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C8B6"/>
            </a:solidFill>
            <a:prstDash val="solid"/>
          </a:ln>
        </p:spPr>
      </p:sp>
      <p:sp>
        <p:nvSpPr>
          <p:cNvPr id="24" name="(c) Control">
            <a:extLst xmlns:a="http://schemas.openxmlformats.org/drawingml/2006/main">
              <a:ext uri="{FF2B5EF4-FFF2-40B4-BE49-F238E27FC236}">
                <a16:creationId xmlns:a16="http://schemas.microsoft.com/office/drawing/2014/main" id="{75B93C27-C6D1-4E5D-A461-E2C51F42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533525"/>
            <a:ext cx="392430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8A7058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8A7058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8A7058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8A7058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8A7058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8A7058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8A7058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8A7058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8A7058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8A70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8A705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A7058"/>
                </a:solidFill>
                <a:latin typeface="Arial"/>
                <a:ea typeface="Arial"/>
                <a:cs typeface="Arial"/>
              </a:rPr>
              <a:t>(c) Control</a:t>
            </a:r>
          </a:p>
        </p:txBody>
      </p:sp>
      <p:sp>
        <p:nvSpPr>
          <p:cNvPr id="25" name="(c) Control capability">
            <a:extLst xmlns:a="http://schemas.openxmlformats.org/drawingml/2006/main">
              <a:ext uri="{FF2B5EF4-FFF2-40B4-BE49-F238E27FC236}">
                <a16:creationId xmlns:a16="http://schemas.microsoft.com/office/drawing/2014/main" id="{5F5C8EBC-2490-450A-80FD-790A3487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52625"/>
            <a:ext cx="3924300" cy="295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63" b="0">
                <a:solidFill>
                  <a:srgbClr val="8A7058"/>
                </a:solidFill>
                <a:latin typeface="Arial"/>
                <a:ea typeface="Arial"/>
                <a:cs typeface="Arial"/>
              </a:defRPr>
            </a:defPPr>
            <a:lvl1pPr algn="l">
              <a:defRPr sz="1763" b="0">
                <a:solidFill>
                  <a:srgbClr val="8A7058"/>
                </a:solidFill>
                <a:latin typeface="Arial"/>
                <a:ea typeface="Arial"/>
                <a:cs typeface="Arial"/>
              </a:defRPr>
            </a:lvl1pPr>
            <a:lvl2pPr algn="l">
              <a:defRPr sz="1763" b="0">
                <a:solidFill>
                  <a:srgbClr val="8A7058"/>
                </a:solidFill>
                <a:latin typeface="Arial"/>
                <a:ea typeface="Arial"/>
                <a:cs typeface="Arial"/>
              </a:defRPr>
            </a:lvl2pPr>
            <a:lvl3pPr algn="l">
              <a:defRPr sz="1763" b="0">
                <a:solidFill>
                  <a:srgbClr val="8A7058"/>
                </a:solidFill>
                <a:latin typeface="Arial"/>
                <a:ea typeface="Arial"/>
                <a:cs typeface="Arial"/>
              </a:defRPr>
            </a:lvl3pPr>
            <a:lvl4pPr algn="l">
              <a:defRPr sz="1763" b="0">
                <a:solidFill>
                  <a:srgbClr val="8A7058"/>
                </a:solidFill>
                <a:latin typeface="Arial"/>
                <a:ea typeface="Arial"/>
                <a:cs typeface="Arial"/>
              </a:defRPr>
            </a:lvl4pPr>
            <a:lvl5pPr algn="l">
              <a:defRPr sz="1763" b="0">
                <a:solidFill>
                  <a:srgbClr val="8A7058"/>
                </a:solidFill>
                <a:latin typeface="Arial"/>
                <a:ea typeface="Arial"/>
                <a:cs typeface="Arial"/>
              </a:defRPr>
            </a:lvl5pPr>
            <a:lvl6pPr algn="l">
              <a:defRPr sz="1763" b="0">
                <a:solidFill>
                  <a:srgbClr val="8A7058"/>
                </a:solidFill>
                <a:latin typeface="Arial"/>
                <a:ea typeface="Arial"/>
                <a:cs typeface="Arial"/>
              </a:defRPr>
            </a:lvl6pPr>
            <a:lvl7pPr algn="l">
              <a:defRPr sz="1763" b="0">
                <a:solidFill>
                  <a:srgbClr val="8A7058"/>
                </a:solidFill>
                <a:latin typeface="Arial"/>
                <a:ea typeface="Arial"/>
                <a:cs typeface="Arial"/>
              </a:defRPr>
            </a:lvl7pPr>
            <a:lvl8pPr algn="l">
              <a:defRPr sz="1763" b="0">
                <a:solidFill>
                  <a:srgbClr val="8A7058"/>
                </a:solidFill>
                <a:latin typeface="Arial"/>
                <a:ea typeface="Arial"/>
                <a:cs typeface="Arial"/>
              </a:defRPr>
            </a:lvl8pPr>
            <a:lvl9pPr algn="l">
              <a:defRPr sz="1763" b="0">
                <a:solidFill>
                  <a:srgbClr val="8A70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63" b="0">
                <a:solidFill>
                  <a:srgbClr val="8A7058"/>
                </a:solidFill>
                <a:latin typeface="Arial"/>
                <a:ea typeface="Arial"/>
                <a:cs typeface="Arial"/>
              </a:defRPr>
            </a:pPr>
            <a:r>
              <a:rPr sz="1763" b="0">
                <a:solidFill>
                  <a:srgbClr val="8A7058"/>
                </a:solidFill>
                <a:latin typeface="Arial"/>
                <a:ea typeface="Arial"/>
                <a:cs typeface="Arial"/>
              </a:rPr>
              <a:t>Mid-execution corrective control</a:t>
            </a:r>
          </a:p>
        </p:txBody>
      </p:sp>
      <p:sp>
        <p:nvSpPr>
          <p:cNvPr id="26" name="(c) Control composition">
            <a:extLst xmlns:a="http://schemas.openxmlformats.org/drawingml/2006/main">
              <a:ext uri="{FF2B5EF4-FFF2-40B4-BE49-F238E27FC236}">
                <a16:creationId xmlns:a16="http://schemas.microsoft.com/office/drawing/2014/main" id="{61076AC7-A79A-44AE-8B8A-B5FFDC00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14575"/>
            <a:ext cx="392430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3E4B"/>
                </a:solidFill>
                <a:latin typeface="Arial"/>
                <a:ea typeface="Arial"/>
                <a:cs typeface="Arial"/>
              </a:rPr>
              <a:t>40 tasks    2,000 instances</a:t>
            </a:r>
          </a:p>
        </p:txBody>
      </p:sp>
      <p:sp>
        <p:nvSpPr>
          <p:cNvPr id="27" name="(c) Control instruction">
            <a:extLst xmlns:a="http://schemas.openxmlformats.org/drawingml/2006/main">
              <a:ext uri="{FF2B5EF4-FFF2-40B4-BE49-F238E27FC236}">
                <a16:creationId xmlns:a16="http://schemas.microsoft.com/office/drawing/2014/main" id="{FBE7784C-8C13-4A0B-97A8-400780EB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24150"/>
            <a:ext cx="3962400" cy="714375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7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(c) Control illustrative command 0">
            <a:extLst xmlns:a="http://schemas.openxmlformats.org/drawingml/2006/main">
              <a:ext uri="{FF2B5EF4-FFF2-40B4-BE49-F238E27FC236}">
                <a16:creationId xmlns:a16="http://schemas.microsoft.com/office/drawing/2014/main" id="{97859AD8-007F-4241-916F-4B6B2A17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90825"/>
            <a:ext cx="3695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B3E4B"/>
                </a:solidFill>
                <a:latin typeface="Arial"/>
                <a:ea typeface="Arial"/>
                <a:cs typeface="Arial"/>
              </a:rPr>
              <a:t>No, place it in the</a:t>
            </a:r>
          </a:p>
        </p:txBody>
      </p:sp>
      <p:sp>
        <p:nvSpPr>
          <p:cNvPr id="29" name="(c) Control illustrative command 1">
            <a:extLst xmlns:a="http://schemas.openxmlformats.org/drawingml/2006/main">
              <a:ext uri="{FF2B5EF4-FFF2-40B4-BE49-F238E27FC236}">
                <a16:creationId xmlns:a16="http://schemas.microsoft.com/office/drawing/2014/main" id="{D79AA1F3-4BAA-4976-94C8-41E8E877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67050"/>
            <a:ext cx="3695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B3E4B"/>
                </a:solidFill>
                <a:latin typeface="Arial"/>
                <a:ea typeface="Arial"/>
                <a:cs typeface="Arial"/>
              </a:rPr>
              <a:t>ramekin instead.</a:t>
            </a:r>
          </a:p>
        </p:txBody>
      </p:sp>
      <p:sp>
        <p:nvSpPr>
          <p:cNvPr id="30" name="Schematic tabletop scene">
            <a:extLst xmlns:a="http://schemas.openxmlformats.org/drawingml/2006/main">
              <a:ext uri="{FF2B5EF4-FFF2-40B4-BE49-F238E27FC236}">
                <a16:creationId xmlns:a16="http://schemas.microsoft.com/office/drawing/2014/main" id="{B77956B7-907F-4F50-808D-D73E5661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09975"/>
            <a:ext cx="3924300" cy="1743075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E4ECEF"/>
            </a:solidFill>
            <a:prstDash val="solid"/>
          </a:ln>
        </p:spPr>
      </p:sp>
      <p:sp>
        <p:nvSpPr>
          <p:cNvPr id="31" name="Table surface">
            <a:extLst xmlns:a="http://schemas.openxmlformats.org/drawingml/2006/main">
              <a:ext uri="{FF2B5EF4-FFF2-40B4-BE49-F238E27FC236}">
                <a16:creationId xmlns:a16="http://schemas.microsoft.com/office/drawing/2014/main" id="{1A558685-689D-40ED-9A7C-A931E66B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95875"/>
            <a:ext cx="3695700" cy="95"/>
          </a:xfrm>
          <a:custGeom xmlns:a="http://schemas.openxmlformats.org/drawingml/2006/main">
            <a:pathLst>
              <a:path w="3695700" h="95">
                <a:moveTo>
                  <a:pt x="0" y="0"/>
                </a:moveTo>
                <a:lnTo>
                  <a:pt x="3695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D2DFE5"/>
            </a:solidFill>
            <a:prstDash val="solid"/>
          </a:ln>
        </p:spPr>
      </p:sp>
      <p:sp>
        <p:nvSpPr>
          <p:cNvPr id="32" name="Semantic gripper arm">
            <a:extLst xmlns:a="http://schemas.openxmlformats.org/drawingml/2006/main">
              <a:ext uri="{FF2B5EF4-FFF2-40B4-BE49-F238E27FC236}">
                <a16:creationId xmlns:a16="http://schemas.microsoft.com/office/drawing/2014/main" id="{18391D1F-3228-46AE-B0B1-DBA6EE79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657600"/>
            <a:ext cx="95" cy="257175"/>
          </a:xfrm>
          <a:custGeom xmlns:a="http://schemas.openxmlformats.org/drawingml/2006/main">
            <a:pathLst>
              <a:path w="9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93A9B4"/>
            </a:solidFill>
            <a:prstDash val="solid"/>
          </a:ln>
        </p:spPr>
      </p:sp>
      <p:sp>
        <p:nvSpPr>
          <p:cNvPr id="33" name="Semantic gripper wrist">
            <a:extLst xmlns:a="http://schemas.openxmlformats.org/drawingml/2006/main">
              <a:ext uri="{FF2B5EF4-FFF2-40B4-BE49-F238E27FC236}">
                <a16:creationId xmlns:a16="http://schemas.microsoft.com/office/drawing/2014/main" id="{7EFFC106-7F2F-47FD-B5E5-48B6A80C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76675"/>
            <a:ext cx="457200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4E9"/>
          </a:solidFill>
          <a:ln xmlns:a="http://schemas.openxmlformats.org/drawingml/2006/main" w="19050">
            <a:solidFill>
              <a:srgbClr val="7A929E"/>
            </a:solidFill>
            <a:prstDash val="solid"/>
          </a:ln>
        </p:spPr>
      </p:sp>
      <p:sp>
        <p:nvSpPr>
          <p:cNvPr id="34" name="Semantic gripper left finger">
            <a:extLst xmlns:a="http://schemas.openxmlformats.org/drawingml/2006/main">
              <a:ext uri="{FF2B5EF4-FFF2-40B4-BE49-F238E27FC236}">
                <a16:creationId xmlns:a16="http://schemas.microsoft.com/office/drawing/2014/main" id="{6C038C11-C740-4566-92AA-D7BA2119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05275"/>
            <a:ext cx="114300" cy="276225"/>
          </a:xfrm>
          <a:custGeom xmlns:a="http://schemas.openxmlformats.org/drawingml/2006/main">
            <a:pathLst>
              <a:path w="114300" h="276225">
                <a:moveTo>
                  <a:pt x="0" y="0"/>
                </a:moveTo>
                <a:lnTo>
                  <a:pt x="0" y="209550"/>
                </a:lnTo>
                <a:lnTo>
                  <a:pt x="11430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6E8793"/>
            </a:solidFill>
            <a:prstDash val="solid"/>
          </a:ln>
        </p:spPr>
      </p:sp>
      <p:sp>
        <p:nvSpPr>
          <p:cNvPr id="35" name="Semantic gripper right finger">
            <a:extLst xmlns:a="http://schemas.openxmlformats.org/drawingml/2006/main">
              <a:ext uri="{FF2B5EF4-FFF2-40B4-BE49-F238E27FC236}">
                <a16:creationId xmlns:a16="http://schemas.microsoft.com/office/drawing/2014/main" id="{41AC61B0-11A9-4F16-B67C-96B1D534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05275"/>
            <a:ext cx="114300" cy="276225"/>
          </a:xfrm>
          <a:custGeom xmlns:a="http://schemas.openxmlformats.org/drawingml/2006/main">
            <a:pathLst>
              <a:path w="114300" h="276225">
                <a:moveTo>
                  <a:pt x="114300" y="0"/>
                </a:moveTo>
                <a:lnTo>
                  <a:pt x="114300" y="209550"/>
                </a:lnTo>
                <a:lnTo>
                  <a:pt x="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6E8793"/>
            </a:solidFill>
            <a:prstDash val="solid"/>
          </a:ln>
        </p:spPr>
      </p:sp>
      <p:sp>
        <p:nvSpPr>
          <p:cNvPr id="36" name="Held semantic bowl body">
            <a:extLst xmlns:a="http://schemas.openxmlformats.org/drawingml/2006/main">
              <a:ext uri="{FF2B5EF4-FFF2-40B4-BE49-F238E27FC236}">
                <a16:creationId xmlns:a16="http://schemas.microsoft.com/office/drawing/2014/main" id="{7C615744-72A1-4B33-8415-C5B9B634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8" y="4314825"/>
            <a:ext cx="638175" cy="347758"/>
          </a:xfrm>
          <a:custGeom xmlns:a="http://schemas.openxmlformats.org/drawingml/2006/main">
            <a:pathLst>
              <a:path w="638175" h="347758">
                <a:moveTo>
                  <a:pt x="0" y="85725"/>
                </a:moveTo>
                <a:cubicBezTo>
                  <a:pt x="57150" y="347758"/>
                  <a:pt x="581025" y="347758"/>
                  <a:pt x="638175" y="85725"/>
                </a:cubicBezTo>
                <a:cubicBezTo>
                  <a:pt x="638175" y="0"/>
                  <a:pt x="0" y="0"/>
                  <a:pt x="0" y="85725"/>
                </a:cubicBezTo>
                <a:close/>
              </a:path>
            </a:pathLst>
          </a:custGeom>
          <a:solidFill xmlns:a="http://schemas.openxmlformats.org/drawingml/2006/main">
            <a:srgbClr val="91ADBC"/>
          </a:solidFill>
          <a:ln xmlns:a="http://schemas.openxmlformats.org/drawingml/2006/main" w="19050">
            <a:solidFill>
              <a:srgbClr val="638390"/>
            </a:solidFill>
            <a:prstDash val="solid"/>
          </a:ln>
        </p:spPr>
      </p:sp>
      <p:sp>
        <p:nvSpPr>
          <p:cNvPr id="37" name="Held semantic bowl rim">
            <a:extLst xmlns:a="http://schemas.openxmlformats.org/drawingml/2006/main">
              <a:ext uri="{FF2B5EF4-FFF2-40B4-BE49-F238E27FC236}">
                <a16:creationId xmlns:a16="http://schemas.microsoft.com/office/drawing/2014/main" id="{7CFBC9E9-C70C-47EB-AA91-CE08C740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8" y="4324350"/>
            <a:ext cx="63817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DF1"/>
          </a:solidFill>
          <a:ln xmlns:a="http://schemas.openxmlformats.org/drawingml/2006/main" w="19050">
            <a:solidFill>
              <a:srgbClr val="638390"/>
            </a:solidFill>
            <a:prstDash val="solid"/>
          </a:ln>
        </p:spPr>
      </p:sp>
      <p:sp>
        <p:nvSpPr>
          <p:cNvPr id="38" name="Held semantic bowl inside">
            <a:extLst xmlns:a="http://schemas.openxmlformats.org/drawingml/2006/main">
              <a:ext uri="{FF2B5EF4-FFF2-40B4-BE49-F238E27FC236}">
                <a16:creationId xmlns:a16="http://schemas.microsoft.com/office/drawing/2014/main" id="{D32356D8-F7A9-41FA-A2A1-70AFA10F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3" y="4362450"/>
            <a:ext cx="504825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A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orrect holding">
            <a:extLst xmlns:a="http://schemas.openxmlformats.org/drawingml/2006/main">
              <a:ext uri="{FF2B5EF4-FFF2-40B4-BE49-F238E27FC236}">
                <a16:creationId xmlns:a16="http://schemas.microsoft.com/office/drawing/2014/main" id="{7E23FC3C-B1B8-48E7-B4FB-7E7C503D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114800"/>
            <a:ext cx="171450" cy="147447"/>
          </a:xfrm>
          <a:custGeom xmlns:a="http://schemas.openxmlformats.org/drawingml/2006/main">
            <a:pathLst>
              <a:path w="171450" h="147447">
                <a:moveTo>
                  <a:pt x="0" y="85725"/>
                </a:moveTo>
                <a:lnTo>
                  <a:pt x="60008" y="147447"/>
                </a:ln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4F796F"/>
            </a:solidFill>
            <a:prstDash val="solid"/>
          </a:ln>
        </p:spPr>
      </p:sp>
      <p:sp>
        <p:nvSpPr>
          <p:cNvPr id="40" name="Holding requirement">
            <a:extLst xmlns:a="http://schemas.openxmlformats.org/drawingml/2006/main">
              <a:ext uri="{FF2B5EF4-FFF2-40B4-BE49-F238E27FC236}">
                <a16:creationId xmlns:a16="http://schemas.microsoft.com/office/drawing/2014/main" id="{736FB026-C332-4576-96A8-7B5DB72D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19550"/>
            <a:ext cx="114300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F796F"/>
                </a:solidFill>
                <a:latin typeface="Arial"/>
                <a:ea typeface="Arial"/>
                <a:cs typeface="Arial"/>
              </a:rPr>
              <a:t>Hold</a:t>
            </a:r>
          </a:p>
        </p:txBody>
      </p:sp>
      <p:sp>
        <p:nvSpPr>
          <p:cNvPr id="41" name="Unrequested plate">
            <a:extLst xmlns:a="http://schemas.openxmlformats.org/drawingml/2006/main">
              <a:ext uri="{FF2B5EF4-FFF2-40B4-BE49-F238E27FC236}">
                <a16:creationId xmlns:a16="http://schemas.microsoft.com/office/drawing/2014/main" id="{D988A298-1407-44CF-B870-5C502045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867275"/>
            <a:ext cx="9334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7"/>
          </a:solidFill>
          <a:ln xmlns:a="http://schemas.openxmlformats.org/drawingml/2006/main" w="19050">
            <a:solidFill>
              <a:srgbClr val="B4A58E"/>
            </a:solidFill>
            <a:prstDash val="solid"/>
          </a:ln>
        </p:spPr>
      </p:sp>
      <p:sp>
        <p:nvSpPr>
          <p:cNvPr id="42" name="Unrequested plate inner">
            <a:extLst xmlns:a="http://schemas.openxmlformats.org/drawingml/2006/main">
              <a:ext uri="{FF2B5EF4-FFF2-40B4-BE49-F238E27FC236}">
                <a16:creationId xmlns:a16="http://schemas.microsoft.com/office/drawing/2014/main" id="{E057D0F6-9E7B-4419-96E8-E2C330E9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914900"/>
            <a:ext cx="704850" cy="190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3C9B8"/>
            </a:solidFill>
            <a:prstDash val="solid"/>
          </a:ln>
        </p:spPr>
      </p:sp>
      <p:sp>
        <p:nvSpPr>
          <p:cNvPr id="43" name="No extra placement">
            <a:extLst xmlns:a="http://schemas.openxmlformats.org/drawingml/2006/main">
              <a:ext uri="{FF2B5EF4-FFF2-40B4-BE49-F238E27FC236}">
                <a16:creationId xmlns:a16="http://schemas.microsoft.com/office/drawing/2014/main" id="{83C20B81-DAFA-4A9D-BBCF-A2D93699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00600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0"/>
                </a:moveTo>
                <a:lnTo>
                  <a:pt x="13335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C6534F"/>
            </a:solidFill>
            <a:prstDash val="solid"/>
          </a:ln>
        </p:spPr>
      </p:sp>
      <p:sp>
        <p:nvSpPr>
          <p:cNvPr id="44" name="No extra placement other">
            <a:extLst xmlns:a="http://schemas.openxmlformats.org/drawingml/2006/main">
              <a:ext uri="{FF2B5EF4-FFF2-40B4-BE49-F238E27FC236}">
                <a16:creationId xmlns:a16="http://schemas.microsoft.com/office/drawing/2014/main" id="{4FD1866C-77AD-400E-97C4-2396B4A8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00600"/>
            <a:ext cx="133350" cy="133350"/>
          </a:xfrm>
          <a:custGeom xmlns:a="http://schemas.openxmlformats.org/drawingml/2006/main">
            <a:pathLst>
              <a:path w="133350" h="133350">
                <a:moveTo>
                  <a:pt x="13335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C6534F"/>
            </a:solidFill>
            <a:prstDash val="solid"/>
          </a:ln>
        </p:spPr>
      </p:sp>
      <p:sp>
        <p:nvSpPr>
          <p:cNvPr id="45" name="No subsequent placement">
            <a:extLst xmlns:a="http://schemas.openxmlformats.org/drawingml/2006/main">
              <a:ext uri="{FF2B5EF4-FFF2-40B4-BE49-F238E27FC236}">
                <a16:creationId xmlns:a16="http://schemas.microsoft.com/office/drawing/2014/main" id="{9D6940E8-EBF7-4E22-8AE9-F539A745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124450"/>
            <a:ext cx="1457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C6534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C6534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C6534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C6534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C6534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C6534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C6534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C6534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C6534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C653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C653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6534F"/>
                </a:solidFill>
                <a:latin typeface="Arial"/>
                <a:ea typeface="Arial"/>
                <a:cs typeface="Arial"/>
              </a:rPr>
              <a:t>Do not place</a:t>
            </a:r>
          </a:p>
        </p:txBody>
      </p:sp>
      <p:sp>
        <p:nvSpPr>
          <p:cNvPr id="46" name="Semantic content 1">
            <a:extLst xmlns:a="http://schemas.openxmlformats.org/drawingml/2006/main">
              <a:ext uri="{FF2B5EF4-FFF2-40B4-BE49-F238E27FC236}">
                <a16:creationId xmlns:a16="http://schemas.microsoft.com/office/drawing/2014/main" id="{11685F4B-E805-44AD-932A-7BC9D05C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38775"/>
            <a:ext cx="3924300" cy="289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B3E4B"/>
                </a:solidFill>
                <a:latin typeface="Arial"/>
                <a:ea typeface="Arial"/>
                <a:cs typeface="Arial"/>
              </a:rPr>
              <a:t>Rewrites, subtasks, atomic motions</a:t>
            </a:r>
          </a:p>
        </p:txBody>
      </p:sp>
      <p:sp>
        <p:nvSpPr>
          <p:cNvPr id="47" name="Semantic content 2">
            <a:extLst xmlns:a="http://schemas.openxmlformats.org/drawingml/2006/main">
              <a:ext uri="{FF2B5EF4-FFF2-40B4-BE49-F238E27FC236}">
                <a16:creationId xmlns:a16="http://schemas.microsoft.com/office/drawing/2014/main" id="{ADF432A8-4545-4447-B049-E0A3DF76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05475"/>
            <a:ext cx="3924300" cy="289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B3E4B"/>
                </a:solidFill>
                <a:latin typeface="Arial"/>
                <a:ea typeface="Arial"/>
                <a:cs typeface="Arial"/>
              </a:rPr>
              <a:t>Object, spatial and order constraints</a:t>
            </a:r>
          </a:p>
        </p:txBody>
      </p:sp>
      <p:sp>
        <p:nvSpPr>
          <p:cNvPr id="48" name="Semantic content 3">
            <a:extLst xmlns:a="http://schemas.openxmlformats.org/drawingml/2006/main">
              <a:ext uri="{FF2B5EF4-FFF2-40B4-BE49-F238E27FC236}">
                <a16:creationId xmlns:a16="http://schemas.microsoft.com/office/drawing/2014/main" id="{896E22F7-4650-4A03-8ABA-122C386B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72175"/>
            <a:ext cx="3924300" cy="289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B3E4B"/>
                </a:solidFill>
                <a:latin typeface="Arial"/>
                <a:ea typeface="Arial"/>
                <a:cs typeface="Arial"/>
              </a:rPr>
              <a:t>Task-specific stopping and holding</a:t>
            </a:r>
          </a:p>
        </p:txBody>
      </p:sp>
      <p:sp>
        <p:nvSpPr>
          <p:cNvPr id="49" name="Visual grounding gripper arm">
            <a:extLst xmlns:a="http://schemas.openxmlformats.org/drawingml/2006/main">
              <a:ext uri="{FF2B5EF4-FFF2-40B4-BE49-F238E27FC236}">
                <a16:creationId xmlns:a16="http://schemas.microsoft.com/office/drawing/2014/main" id="{2C0B9AF0-825E-4523-8239-8EDB03FA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657600"/>
            <a:ext cx="95" cy="257175"/>
          </a:xfrm>
          <a:custGeom xmlns:a="http://schemas.openxmlformats.org/drawingml/2006/main">
            <a:pathLst>
              <a:path w="9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93A9B4"/>
            </a:solidFill>
            <a:prstDash val="solid"/>
          </a:ln>
        </p:spPr>
      </p:sp>
      <p:sp>
        <p:nvSpPr>
          <p:cNvPr id="50" name="Visual grounding gripper wrist">
            <a:extLst xmlns:a="http://schemas.openxmlformats.org/drawingml/2006/main">
              <a:ext uri="{FF2B5EF4-FFF2-40B4-BE49-F238E27FC236}">
                <a16:creationId xmlns:a16="http://schemas.microsoft.com/office/drawing/2014/main" id="{611EAA51-1062-459D-B746-0583A437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876675"/>
            <a:ext cx="457200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4E9"/>
          </a:solidFill>
          <a:ln xmlns:a="http://schemas.openxmlformats.org/drawingml/2006/main" w="19050">
            <a:solidFill>
              <a:srgbClr val="7A929E"/>
            </a:solidFill>
            <a:prstDash val="solid"/>
          </a:ln>
        </p:spPr>
      </p:sp>
      <p:sp>
        <p:nvSpPr>
          <p:cNvPr id="51" name="Visual grounding gripper left finger">
            <a:extLst xmlns:a="http://schemas.openxmlformats.org/drawingml/2006/main">
              <a:ext uri="{FF2B5EF4-FFF2-40B4-BE49-F238E27FC236}">
                <a16:creationId xmlns:a16="http://schemas.microsoft.com/office/drawing/2014/main" id="{8B2C623C-C2B0-42F7-822A-A9F91056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05275"/>
            <a:ext cx="114300" cy="276225"/>
          </a:xfrm>
          <a:custGeom xmlns:a="http://schemas.openxmlformats.org/drawingml/2006/main">
            <a:pathLst>
              <a:path w="114300" h="276225">
                <a:moveTo>
                  <a:pt x="0" y="0"/>
                </a:moveTo>
                <a:lnTo>
                  <a:pt x="0" y="209550"/>
                </a:lnTo>
                <a:lnTo>
                  <a:pt x="11430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6E8793"/>
            </a:solidFill>
            <a:prstDash val="solid"/>
          </a:ln>
        </p:spPr>
      </p:sp>
      <p:sp>
        <p:nvSpPr>
          <p:cNvPr id="52" name="Visual grounding gripper right finger">
            <a:extLst xmlns:a="http://schemas.openxmlformats.org/drawingml/2006/main">
              <a:ext uri="{FF2B5EF4-FFF2-40B4-BE49-F238E27FC236}">
                <a16:creationId xmlns:a16="http://schemas.microsoft.com/office/drawing/2014/main" id="{AB88D804-48F5-4CFA-B86F-9DC94AA7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05275"/>
            <a:ext cx="114300" cy="276225"/>
          </a:xfrm>
          <a:custGeom xmlns:a="http://schemas.openxmlformats.org/drawingml/2006/main">
            <a:pathLst>
              <a:path w="114300" h="276225">
                <a:moveTo>
                  <a:pt x="114300" y="0"/>
                </a:moveTo>
                <a:lnTo>
                  <a:pt x="114300" y="209550"/>
                </a:lnTo>
                <a:lnTo>
                  <a:pt x="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6E8793"/>
            </a:solidFill>
            <a:prstDash val="solid"/>
          </a:ln>
        </p:spPr>
      </p:sp>
      <p:sp>
        <p:nvSpPr>
          <p:cNvPr id="53" name="Visual source bowl body">
            <a:extLst xmlns:a="http://schemas.openxmlformats.org/drawingml/2006/main">
              <a:ext uri="{FF2B5EF4-FFF2-40B4-BE49-F238E27FC236}">
                <a16:creationId xmlns:a16="http://schemas.microsoft.com/office/drawing/2014/main" id="{701D9EA1-4FD8-4FC5-81F6-0A619029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762500"/>
            <a:ext cx="590550" cy="322517"/>
          </a:xfrm>
          <a:custGeom xmlns:a="http://schemas.openxmlformats.org/drawingml/2006/main">
            <a:pathLst>
              <a:path w="590550" h="322517">
                <a:moveTo>
                  <a:pt x="0" y="85725"/>
                </a:moveTo>
                <a:cubicBezTo>
                  <a:pt x="57150" y="322517"/>
                  <a:pt x="533400" y="322517"/>
                  <a:pt x="590550" y="85725"/>
                </a:cubicBezTo>
                <a:cubicBezTo>
                  <a:pt x="590550" y="0"/>
                  <a:pt x="0" y="0"/>
                  <a:pt x="0" y="85725"/>
                </a:cubicBezTo>
                <a:close/>
              </a:path>
            </a:pathLst>
          </a:custGeom>
          <a:solidFill xmlns:a="http://schemas.openxmlformats.org/drawingml/2006/main">
            <a:srgbClr val="91ADBC"/>
          </a:solidFill>
          <a:ln xmlns:a="http://schemas.openxmlformats.org/drawingml/2006/main" w="19050">
            <a:solidFill>
              <a:srgbClr val="638390"/>
            </a:solidFill>
            <a:prstDash val="solid"/>
          </a:ln>
        </p:spPr>
      </p:sp>
      <p:sp>
        <p:nvSpPr>
          <p:cNvPr id="54" name="Visual source bowl rim">
            <a:extLst xmlns:a="http://schemas.openxmlformats.org/drawingml/2006/main">
              <a:ext uri="{FF2B5EF4-FFF2-40B4-BE49-F238E27FC236}">
                <a16:creationId xmlns:a16="http://schemas.microsoft.com/office/drawing/2014/main" id="{5CD77BA4-9800-4220-A6C2-0A56BB7D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772025"/>
            <a:ext cx="590550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DF1"/>
          </a:solidFill>
          <a:ln xmlns:a="http://schemas.openxmlformats.org/drawingml/2006/main" w="19050">
            <a:solidFill>
              <a:srgbClr val="638390"/>
            </a:solidFill>
            <a:prstDash val="solid"/>
          </a:ln>
        </p:spPr>
      </p:sp>
      <p:sp>
        <p:nvSpPr>
          <p:cNvPr id="55" name="Visual source bowl inside">
            <a:extLst xmlns:a="http://schemas.openxmlformats.org/drawingml/2006/main">
              <a:ext uri="{FF2B5EF4-FFF2-40B4-BE49-F238E27FC236}">
                <a16:creationId xmlns:a16="http://schemas.microsoft.com/office/drawing/2014/main" id="{2E050054-4AC3-41B2-B6F7-AED79F11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810125"/>
            <a:ext cx="457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A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Distractor cube">
            <a:extLst xmlns:a="http://schemas.openxmlformats.org/drawingml/2006/main">
              <a:ext uri="{FF2B5EF4-FFF2-40B4-BE49-F238E27FC236}">
                <a16:creationId xmlns:a16="http://schemas.microsoft.com/office/drawing/2014/main" id="{6CAD146F-3100-4215-A30A-F807783E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00600"/>
            <a:ext cx="33337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D2C3AD"/>
          </a:solidFill>
          <a:ln xmlns:a="http://schemas.openxmlformats.org/drawingml/2006/main" w="17145">
            <a:solidFill>
              <a:srgbClr val="B6A58B"/>
            </a:solidFill>
            <a:prstDash val="solid"/>
          </a:ln>
        </p:spPr>
      </p:sp>
      <p:sp>
        <p:nvSpPr>
          <p:cNvPr id="57" name="Placement cue">
            <a:extLst xmlns:a="http://schemas.openxmlformats.org/drawingml/2006/main">
              <a:ext uri="{FF2B5EF4-FFF2-40B4-BE49-F238E27FC236}">
                <a16:creationId xmlns:a16="http://schemas.microsoft.com/office/drawing/2014/main" id="{B2709E35-ABBB-4FB1-A54B-C736C301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95825"/>
            <a:ext cx="1257300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28575">
            <a:solidFill>
              <a:srgbClr val="C6534F"/>
            </a:solidFill>
            <a:prstDash val="solid"/>
          </a:ln>
        </p:spPr>
      </p:sp>
      <p:sp>
        <p:nvSpPr>
          <p:cNvPr id="58" name="Instruction-conditioned placement">
            <a:extLst xmlns:a="http://schemas.openxmlformats.org/drawingml/2006/main">
              <a:ext uri="{FF2B5EF4-FFF2-40B4-BE49-F238E27FC236}">
                <a16:creationId xmlns:a16="http://schemas.microsoft.com/office/drawing/2014/main" id="{99F7F84F-B886-4BAA-92BF-9FF43F1F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619625"/>
            <a:ext cx="1819275" cy="247650"/>
          </a:xfrm>
          <a:custGeom xmlns:a="http://schemas.openxmlformats.org/drawingml/2006/main">
            <a:pathLst>
              <a:path w="1819275" h="247650">
                <a:moveTo>
                  <a:pt x="0" y="0"/>
                </a:moveTo>
                <a:lnTo>
                  <a:pt x="1819275" y="0"/>
                </a:lnTo>
                <a:lnTo>
                  <a:pt x="1819275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F796F"/>
            </a:solidFill>
            <a:prstDash val="solid"/>
          </a:ln>
        </p:spPr>
      </p:sp>
      <p:sp>
        <p:nvSpPr>
          <p:cNvPr id="59" name="Instruction-conditioned placement arrowhead">
            <a:extLst xmlns:a="http://schemas.openxmlformats.org/drawingml/2006/main">
              <a:ext uri="{FF2B5EF4-FFF2-40B4-BE49-F238E27FC236}">
                <a16:creationId xmlns:a16="http://schemas.microsoft.com/office/drawing/2014/main" id="{0FEC5F1F-4AB6-4830-8568-2A259766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6201" y="4781550"/>
            <a:ext cx="94298" cy="85725"/>
          </a:xfrm>
          <a:custGeom xmlns:a="http://schemas.openxmlformats.org/drawingml/2006/main">
            <a:pathLst>
              <a:path w="94298" h="85725">
                <a:moveTo>
                  <a:pt x="47149" y="85725"/>
                </a:moveTo>
                <a:lnTo>
                  <a:pt x="0" y="0"/>
                </a:lnTo>
                <a:lnTo>
                  <a:pt x="94298" y="0"/>
                </a:lnTo>
                <a:close/>
              </a:path>
            </a:pathLst>
          </a:custGeom>
          <a:solidFill xmlns:a="http://schemas.openxmlformats.org/drawingml/2006/main">
            <a:srgbClr val="4F7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Object circle cue">
            <a:extLst xmlns:a="http://schemas.openxmlformats.org/drawingml/2006/main">
              <a:ext uri="{FF2B5EF4-FFF2-40B4-BE49-F238E27FC236}">
                <a16:creationId xmlns:a16="http://schemas.microsoft.com/office/drawing/2014/main" id="{26B3F752-AC6D-4EF6-A8A8-074377FB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600700"/>
            <a:ext cx="304800" cy="2571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C6534F"/>
            </a:solidFill>
            <a:prstDash val="solid"/>
          </a:ln>
        </p:spPr>
      </p:sp>
      <p:sp>
        <p:nvSpPr>
          <p:cNvPr id="61" name="Object marker inside cue">
            <a:extLst xmlns:a="http://schemas.openxmlformats.org/drawingml/2006/main">
              <a:ext uri="{FF2B5EF4-FFF2-40B4-BE49-F238E27FC236}">
                <a16:creationId xmlns:a16="http://schemas.microsoft.com/office/drawing/2014/main" id="{8B337E4C-D8BF-4AE6-9AEC-3E9D0F0A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686425"/>
            <a:ext cx="95250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AD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Region cue">
            <a:extLst xmlns:a="http://schemas.openxmlformats.org/drawingml/2006/main">
              <a:ext uri="{FF2B5EF4-FFF2-40B4-BE49-F238E27FC236}">
                <a16:creationId xmlns:a16="http://schemas.microsoft.com/office/drawing/2014/main" id="{41AD8FC8-FDBF-427D-9029-C8857C6D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00700"/>
            <a:ext cx="342900" cy="2571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CF2F7"/>
          </a:solidFill>
          <a:ln xmlns:a="http://schemas.openxmlformats.org/drawingml/2006/main" w="20955">
            <a:solidFill>
              <a:srgbClr val="486C84"/>
            </a:solidFill>
            <a:prstDash val="solid"/>
          </a:ln>
        </p:spPr>
      </p:sp>
      <p:sp>
        <p:nvSpPr>
          <p:cNvPr id="63" name="Point cue">
            <a:extLst xmlns:a="http://schemas.openxmlformats.org/drawingml/2006/main">
              <a:ext uri="{FF2B5EF4-FFF2-40B4-BE49-F238E27FC236}">
                <a16:creationId xmlns:a16="http://schemas.microsoft.com/office/drawing/2014/main" id="{CF478DE6-0881-4B20-9D79-5364C882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5686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5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oint cue horizontal">
            <a:extLst xmlns:a="http://schemas.openxmlformats.org/drawingml/2006/main">
              <a:ext uri="{FF2B5EF4-FFF2-40B4-BE49-F238E27FC236}">
                <a16:creationId xmlns:a16="http://schemas.microsoft.com/office/drawing/2014/main" id="{5E2D1F1E-B717-4F86-9792-7023339C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734050"/>
            <a:ext cx="304800" cy="95"/>
          </a:xfrm>
          <a:custGeom xmlns:a="http://schemas.openxmlformats.org/drawingml/2006/main">
            <a:pathLst>
              <a:path w="304800" h="9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C6534F"/>
            </a:solidFill>
            <a:prstDash val="solid"/>
          </a:ln>
        </p:spPr>
      </p:sp>
      <p:sp>
        <p:nvSpPr>
          <p:cNvPr id="65" name="Point cue vertical">
            <a:extLst xmlns:a="http://schemas.openxmlformats.org/drawingml/2006/main">
              <a:ext uri="{FF2B5EF4-FFF2-40B4-BE49-F238E27FC236}">
                <a16:creationId xmlns:a16="http://schemas.microsoft.com/office/drawing/2014/main" id="{730AE958-BA6D-4A1D-9D2B-5AAA66F0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591175"/>
            <a:ext cx="95" cy="285750"/>
          </a:xfrm>
          <a:custGeom xmlns:a="http://schemas.openxmlformats.org/drawingml/2006/main">
            <a:pathLst>
              <a:path w="9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C6534F"/>
            </a:solidFill>
            <a:prstDash val="solid"/>
          </a:ln>
        </p:spPr>
      </p:sp>
      <p:sp>
        <p:nvSpPr>
          <p:cNvPr id="66" name="Trajectory cue">
            <a:extLst xmlns:a="http://schemas.openxmlformats.org/drawingml/2006/main">
              <a:ext uri="{FF2B5EF4-FFF2-40B4-BE49-F238E27FC236}">
                <a16:creationId xmlns:a16="http://schemas.microsoft.com/office/drawing/2014/main" id="{16F4A51B-AAC8-419A-B198-46D67751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610225"/>
            <a:ext cx="390525" cy="209550"/>
          </a:xfrm>
          <a:custGeom xmlns:a="http://schemas.openxmlformats.org/drawingml/2006/main">
            <a:pathLst>
              <a:path w="390525" h="209550">
                <a:moveTo>
                  <a:pt x="0" y="209550"/>
                </a:moveTo>
                <a:lnTo>
                  <a:pt x="123825" y="19050"/>
                </a:lnTo>
                <a:lnTo>
                  <a:pt x="266700" y="190500"/>
                </a:ln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486C84"/>
            </a:solidFill>
            <a:prstDash val="solid"/>
          </a:ln>
        </p:spPr>
      </p:sp>
      <p:sp>
        <p:nvSpPr>
          <p:cNvPr id="67" name="Trajectory cue arrowhead">
            <a:extLst xmlns:a="http://schemas.openxmlformats.org/drawingml/2006/main">
              <a:ext uri="{FF2B5EF4-FFF2-40B4-BE49-F238E27FC236}">
                <a16:creationId xmlns:a16="http://schemas.microsoft.com/office/drawing/2014/main" id="{36F158F0-6D2A-4D35-A78D-0F0A4071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900" y="5610225"/>
            <a:ext cx="57500" cy="65047"/>
          </a:xfrm>
          <a:custGeom xmlns:a="http://schemas.openxmlformats.org/drawingml/2006/main">
            <a:pathLst>
              <a:path w="57500" h="65047">
                <a:moveTo>
                  <a:pt x="57500" y="0"/>
                </a:moveTo>
                <a:lnTo>
                  <a:pt x="52709" y="65047"/>
                </a:lnTo>
                <a:lnTo>
                  <a:pt x="0" y="30787"/>
                </a:lnTo>
                <a:close/>
              </a:path>
            </a:pathLst>
          </a:custGeom>
          <a:solidFill xmlns:a="http://schemas.openxmlformats.org/drawingml/2006/main">
            <a:srgbClr val="486C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Visual cue family 0">
            <a:extLst xmlns:a="http://schemas.openxmlformats.org/drawingml/2006/main">
              <a:ext uri="{FF2B5EF4-FFF2-40B4-BE49-F238E27FC236}">
                <a16:creationId xmlns:a16="http://schemas.microsoft.com/office/drawing/2014/main" id="{63B78E41-6EC7-4460-9F75-8178169D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95312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B3E4B"/>
                </a:solidFill>
                <a:latin typeface="Arial"/>
                <a:ea typeface="Arial"/>
                <a:cs typeface="Arial"/>
              </a:rPr>
              <a:t>Circle</a:t>
            </a:r>
          </a:p>
        </p:txBody>
      </p:sp>
      <p:sp>
        <p:nvSpPr>
          <p:cNvPr id="69" name="Visual cue family 1">
            <a:extLst xmlns:a="http://schemas.openxmlformats.org/drawingml/2006/main">
              <a:ext uri="{FF2B5EF4-FFF2-40B4-BE49-F238E27FC236}">
                <a16:creationId xmlns:a16="http://schemas.microsoft.com/office/drawing/2014/main" id="{0945ECFA-513B-4FBE-8304-87506CC3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595312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B3E4B"/>
                </a:solidFill>
                <a:latin typeface="Arial"/>
                <a:ea typeface="Arial"/>
                <a:cs typeface="Arial"/>
              </a:rPr>
              <a:t>Region</a:t>
            </a:r>
          </a:p>
        </p:txBody>
      </p:sp>
      <p:sp>
        <p:nvSpPr>
          <p:cNvPr id="70" name="Visual cue family 2">
            <a:extLst xmlns:a="http://schemas.openxmlformats.org/drawingml/2006/main">
              <a:ext uri="{FF2B5EF4-FFF2-40B4-BE49-F238E27FC236}">
                <a16:creationId xmlns:a16="http://schemas.microsoft.com/office/drawing/2014/main" id="{04BF1654-94F4-49CB-8689-7BCEDE22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95312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B3E4B"/>
                </a:solidFill>
                <a:latin typeface="Arial"/>
                <a:ea typeface="Arial"/>
                <a:cs typeface="Arial"/>
              </a:rPr>
              <a:t>Point</a:t>
            </a:r>
          </a:p>
        </p:txBody>
      </p:sp>
      <p:sp>
        <p:nvSpPr>
          <p:cNvPr id="71" name="Visual cue family 3">
            <a:extLst xmlns:a="http://schemas.openxmlformats.org/drawingml/2006/main">
              <a:ext uri="{FF2B5EF4-FFF2-40B4-BE49-F238E27FC236}">
                <a16:creationId xmlns:a16="http://schemas.microsoft.com/office/drawing/2014/main" id="{B42C79BE-6565-4968-B7EB-4630A343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95312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B3E4B"/>
                </a:solidFill>
                <a:latin typeface="Arial"/>
                <a:ea typeface="Arial"/>
                <a:cs typeface="Arial"/>
              </a:rPr>
              <a:t>Path</a:t>
            </a:r>
          </a:p>
        </p:txBody>
      </p:sp>
      <p:sp>
        <p:nvSpPr>
          <p:cNvPr id="72" name="Corrective control gripper arm">
            <a:extLst xmlns:a="http://schemas.openxmlformats.org/drawingml/2006/main">
              <a:ext uri="{FF2B5EF4-FFF2-40B4-BE49-F238E27FC236}">
                <a16:creationId xmlns:a16="http://schemas.microsoft.com/office/drawing/2014/main" id="{E325283A-7D3C-4ED1-AF98-63D5A78E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38550"/>
            <a:ext cx="95" cy="257175"/>
          </a:xfrm>
          <a:custGeom xmlns:a="http://schemas.openxmlformats.org/drawingml/2006/main">
            <a:pathLst>
              <a:path w="9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93A9B4"/>
            </a:solidFill>
            <a:prstDash val="solid"/>
          </a:ln>
        </p:spPr>
      </p:sp>
      <p:sp>
        <p:nvSpPr>
          <p:cNvPr id="73" name="Corrective control gripper wrist">
            <a:extLst xmlns:a="http://schemas.openxmlformats.org/drawingml/2006/main">
              <a:ext uri="{FF2B5EF4-FFF2-40B4-BE49-F238E27FC236}">
                <a16:creationId xmlns:a16="http://schemas.microsoft.com/office/drawing/2014/main" id="{FCBE529B-DF78-489D-8C5B-113375CE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857625"/>
            <a:ext cx="457200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4E9"/>
          </a:solidFill>
          <a:ln xmlns:a="http://schemas.openxmlformats.org/drawingml/2006/main" w="19050">
            <a:solidFill>
              <a:srgbClr val="7A929E"/>
            </a:solidFill>
            <a:prstDash val="solid"/>
          </a:ln>
        </p:spPr>
      </p:sp>
      <p:sp>
        <p:nvSpPr>
          <p:cNvPr id="74" name="Corrective control gripper left finger">
            <a:extLst xmlns:a="http://schemas.openxmlformats.org/drawingml/2006/main">
              <a:ext uri="{FF2B5EF4-FFF2-40B4-BE49-F238E27FC236}">
                <a16:creationId xmlns:a16="http://schemas.microsoft.com/office/drawing/2014/main" id="{6001E93A-5A70-426F-B251-817EC835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086225"/>
            <a:ext cx="114300" cy="276225"/>
          </a:xfrm>
          <a:custGeom xmlns:a="http://schemas.openxmlformats.org/drawingml/2006/main">
            <a:pathLst>
              <a:path w="114300" h="276225">
                <a:moveTo>
                  <a:pt x="0" y="0"/>
                </a:moveTo>
                <a:lnTo>
                  <a:pt x="0" y="209550"/>
                </a:lnTo>
                <a:lnTo>
                  <a:pt x="11430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6E8793"/>
            </a:solidFill>
            <a:prstDash val="solid"/>
          </a:ln>
        </p:spPr>
      </p:sp>
      <p:sp>
        <p:nvSpPr>
          <p:cNvPr id="75" name="Corrective control gripper right finger">
            <a:extLst xmlns:a="http://schemas.openxmlformats.org/drawingml/2006/main">
              <a:ext uri="{FF2B5EF4-FFF2-40B4-BE49-F238E27FC236}">
                <a16:creationId xmlns:a16="http://schemas.microsoft.com/office/drawing/2014/main" id="{01441609-1437-4695-9FEE-CE9B4CDE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4086225"/>
            <a:ext cx="114300" cy="276225"/>
          </a:xfrm>
          <a:custGeom xmlns:a="http://schemas.openxmlformats.org/drawingml/2006/main">
            <a:pathLst>
              <a:path w="114300" h="276225">
                <a:moveTo>
                  <a:pt x="114300" y="0"/>
                </a:moveTo>
                <a:lnTo>
                  <a:pt x="114300" y="209550"/>
                </a:lnTo>
                <a:lnTo>
                  <a:pt x="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6E8793"/>
            </a:solidFill>
            <a:prstDash val="solid"/>
          </a:ln>
        </p:spPr>
      </p:sp>
      <p:sp>
        <p:nvSpPr>
          <p:cNvPr id="76" name="Already-held control bowl body">
            <a:extLst xmlns:a="http://schemas.openxmlformats.org/drawingml/2006/main">
              <a:ext uri="{FF2B5EF4-FFF2-40B4-BE49-F238E27FC236}">
                <a16:creationId xmlns:a16="http://schemas.microsoft.com/office/drawing/2014/main" id="{EA335989-2838-415E-B06A-F7AEF7C0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95775"/>
            <a:ext cx="609600" cy="332613"/>
          </a:xfrm>
          <a:custGeom xmlns:a="http://schemas.openxmlformats.org/drawingml/2006/main">
            <a:pathLst>
              <a:path w="609600" h="332613">
                <a:moveTo>
                  <a:pt x="0" y="85725"/>
                </a:moveTo>
                <a:cubicBezTo>
                  <a:pt x="57150" y="332613"/>
                  <a:pt x="552450" y="332613"/>
                  <a:pt x="609600" y="85725"/>
                </a:cubicBezTo>
                <a:cubicBezTo>
                  <a:pt x="609600" y="0"/>
                  <a:pt x="0" y="0"/>
                  <a:pt x="0" y="85725"/>
                </a:cubicBezTo>
                <a:close/>
              </a:path>
            </a:pathLst>
          </a:custGeom>
          <a:solidFill xmlns:a="http://schemas.openxmlformats.org/drawingml/2006/main">
            <a:srgbClr val="91ADBC"/>
          </a:solidFill>
          <a:ln xmlns:a="http://schemas.openxmlformats.org/drawingml/2006/main" w="19050">
            <a:solidFill>
              <a:srgbClr val="638390"/>
            </a:solidFill>
            <a:prstDash val="solid"/>
          </a:ln>
        </p:spPr>
      </p:sp>
      <p:sp>
        <p:nvSpPr>
          <p:cNvPr id="77" name="Already-held control bowl rim">
            <a:extLst xmlns:a="http://schemas.openxmlformats.org/drawingml/2006/main">
              <a:ext uri="{FF2B5EF4-FFF2-40B4-BE49-F238E27FC236}">
                <a16:creationId xmlns:a16="http://schemas.microsoft.com/office/drawing/2014/main" id="{CFCE9D38-6BEE-4FF9-ADEB-13A8A2C0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305300"/>
            <a:ext cx="609600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DF1"/>
          </a:solidFill>
          <a:ln xmlns:a="http://schemas.openxmlformats.org/drawingml/2006/main" w="19050">
            <a:solidFill>
              <a:srgbClr val="638390"/>
            </a:solidFill>
            <a:prstDash val="solid"/>
          </a:ln>
        </p:spPr>
      </p:sp>
      <p:sp>
        <p:nvSpPr>
          <p:cNvPr id="78" name="Already-held control bowl inside">
            <a:extLst xmlns:a="http://schemas.openxmlformats.org/drawingml/2006/main">
              <a:ext uri="{FF2B5EF4-FFF2-40B4-BE49-F238E27FC236}">
                <a16:creationId xmlns:a16="http://schemas.microsoft.com/office/drawing/2014/main" id="{360F3F40-6210-448B-8238-22EC9668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343400"/>
            <a:ext cx="47625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A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Obsolete destination">
            <a:extLst xmlns:a="http://schemas.openxmlformats.org/drawingml/2006/main">
              <a:ext uri="{FF2B5EF4-FFF2-40B4-BE49-F238E27FC236}">
                <a16:creationId xmlns:a16="http://schemas.microsoft.com/office/drawing/2014/main" id="{1F832456-9B48-47AF-9C8E-F8BEEA40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867275"/>
            <a:ext cx="9334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7"/>
          </a:solidFill>
          <a:ln xmlns:a="http://schemas.openxmlformats.org/drawingml/2006/main" w="19050">
            <a:solidFill>
              <a:srgbClr val="B4A58E"/>
            </a:solidFill>
            <a:prstDash val="solid"/>
          </a:ln>
        </p:spPr>
      </p:sp>
      <p:sp>
        <p:nvSpPr>
          <p:cNvPr id="80" name="Obsolete destination inner">
            <a:extLst xmlns:a="http://schemas.openxmlformats.org/drawingml/2006/main">
              <a:ext uri="{FF2B5EF4-FFF2-40B4-BE49-F238E27FC236}">
                <a16:creationId xmlns:a16="http://schemas.microsoft.com/office/drawing/2014/main" id="{726025EF-F618-40C8-9F0C-2BD8F0EF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914900"/>
            <a:ext cx="704850" cy="190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3C9B8"/>
            </a:solidFill>
            <a:prstDash val="solid"/>
          </a:ln>
        </p:spPr>
      </p:sp>
      <p:sp>
        <p:nvSpPr>
          <p:cNvPr id="81" name="Updated ramekin destination body">
            <a:extLst xmlns:a="http://schemas.openxmlformats.org/drawingml/2006/main">
              <a:ext uri="{FF2B5EF4-FFF2-40B4-BE49-F238E27FC236}">
                <a16:creationId xmlns:a16="http://schemas.microsoft.com/office/drawing/2014/main" id="{F511C993-CC67-4180-95F4-867FB18C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4914900"/>
            <a:ext cx="590550" cy="371475"/>
          </a:xfrm>
          <a:custGeom xmlns:a="http://schemas.openxmlformats.org/drawingml/2006/main">
            <a:pathLst>
              <a:path w="590550" h="371475">
                <a:moveTo>
                  <a:pt x="0" y="0"/>
                </a:moveTo>
                <a:lnTo>
                  <a:pt x="57150" y="285750"/>
                </a:lnTo>
                <a:cubicBezTo>
                  <a:pt x="104775" y="371475"/>
                  <a:pt x="485775" y="371475"/>
                  <a:pt x="533400" y="285750"/>
                </a:cubicBezTo>
                <a:lnTo>
                  <a:pt x="590550" y="0"/>
                </a:lnTo>
                <a:close/>
              </a:path>
            </a:pathLst>
          </a:custGeom>
          <a:solidFill xmlns:a="http://schemas.openxmlformats.org/drawingml/2006/main">
            <a:srgbClr val="D8CCB9"/>
          </a:solidFill>
          <a:ln xmlns:a="http://schemas.openxmlformats.org/drawingml/2006/main" w="19050">
            <a:solidFill>
              <a:srgbClr val="AA9477"/>
            </a:solidFill>
            <a:prstDash val="solid"/>
          </a:ln>
        </p:spPr>
      </p:sp>
      <p:sp>
        <p:nvSpPr>
          <p:cNvPr id="82" name="Updated ramekin destination rib -2">
            <a:extLst xmlns:a="http://schemas.openxmlformats.org/drawingml/2006/main">
              <a:ext uri="{FF2B5EF4-FFF2-40B4-BE49-F238E27FC236}">
                <a16:creationId xmlns:a16="http://schemas.microsoft.com/office/drawing/2014/main" id="{6415BFBE-FF7E-4013-A9E6-99DFBBD3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4991100"/>
            <a:ext cx="28575" cy="180975"/>
          </a:xfrm>
          <a:custGeom xmlns:a="http://schemas.openxmlformats.org/drawingml/2006/main">
            <a:pathLst>
              <a:path w="28575" h="180975">
                <a:moveTo>
                  <a:pt x="0" y="0"/>
                </a:moveTo>
                <a:lnTo>
                  <a:pt x="28575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BCAA8E"/>
            </a:solidFill>
            <a:prstDash val="solid"/>
          </a:ln>
        </p:spPr>
      </p:sp>
      <p:sp>
        <p:nvSpPr>
          <p:cNvPr id="83" name="Updated ramekin destination rib -1">
            <a:extLst xmlns:a="http://schemas.openxmlformats.org/drawingml/2006/main">
              <a:ext uri="{FF2B5EF4-FFF2-40B4-BE49-F238E27FC236}">
                <a16:creationId xmlns:a16="http://schemas.microsoft.com/office/drawing/2014/main" id="{61C0BCC3-8CF6-431F-BBD0-6D7B51CC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4991100"/>
            <a:ext cx="14288" cy="180975"/>
          </a:xfrm>
          <a:custGeom xmlns:a="http://schemas.openxmlformats.org/drawingml/2006/main">
            <a:pathLst>
              <a:path w="14288" h="180975">
                <a:moveTo>
                  <a:pt x="0" y="0"/>
                </a:moveTo>
                <a:lnTo>
                  <a:pt x="14288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BCAA8E"/>
            </a:solidFill>
            <a:prstDash val="solid"/>
          </a:ln>
        </p:spPr>
      </p:sp>
      <p:sp>
        <p:nvSpPr>
          <p:cNvPr id="84" name="Updated ramekin destination rib 0">
            <a:extLst xmlns:a="http://schemas.openxmlformats.org/drawingml/2006/main">
              <a:ext uri="{FF2B5EF4-FFF2-40B4-BE49-F238E27FC236}">
                <a16:creationId xmlns:a16="http://schemas.microsoft.com/office/drawing/2014/main" id="{860E50A0-EFCE-4373-A1E5-F742D3E8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4991100"/>
            <a:ext cx="95" cy="180975"/>
          </a:xfrm>
          <a:custGeom xmlns:a="http://schemas.openxmlformats.org/drawingml/2006/main">
            <a:pathLst>
              <a:path w="9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BCAA8E"/>
            </a:solidFill>
            <a:prstDash val="solid"/>
          </a:ln>
        </p:spPr>
      </p:sp>
      <p:sp>
        <p:nvSpPr>
          <p:cNvPr id="85" name="Updated ramekin destination rib 1">
            <a:extLst xmlns:a="http://schemas.openxmlformats.org/drawingml/2006/main">
              <a:ext uri="{FF2B5EF4-FFF2-40B4-BE49-F238E27FC236}">
                <a16:creationId xmlns:a16="http://schemas.microsoft.com/office/drawing/2014/main" id="{87CBF466-5484-46E5-8E20-1FDC70D5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7738" y="4991100"/>
            <a:ext cx="14288" cy="180975"/>
          </a:xfrm>
          <a:custGeom xmlns:a="http://schemas.openxmlformats.org/drawingml/2006/main">
            <a:pathLst>
              <a:path w="14288" h="180975">
                <a:moveTo>
                  <a:pt x="14288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BCAA8E"/>
            </a:solidFill>
            <a:prstDash val="solid"/>
          </a:ln>
        </p:spPr>
      </p:sp>
      <p:sp>
        <p:nvSpPr>
          <p:cNvPr id="86" name="Updated ramekin destination rib 2">
            <a:extLst xmlns:a="http://schemas.openxmlformats.org/drawingml/2006/main">
              <a:ext uri="{FF2B5EF4-FFF2-40B4-BE49-F238E27FC236}">
                <a16:creationId xmlns:a16="http://schemas.microsoft.com/office/drawing/2014/main" id="{EBF87095-D500-4494-94AD-3034060C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4991100"/>
            <a:ext cx="28575" cy="180975"/>
          </a:xfrm>
          <a:custGeom xmlns:a="http://schemas.openxmlformats.org/drawingml/2006/main">
            <a:pathLst>
              <a:path w="28575" h="180975">
                <a:moveTo>
                  <a:pt x="28575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BCAA8E"/>
            </a:solidFill>
            <a:prstDash val="solid"/>
          </a:ln>
        </p:spPr>
      </p:sp>
      <p:sp>
        <p:nvSpPr>
          <p:cNvPr id="87" name="Updated ramekin destination top">
            <a:extLst xmlns:a="http://schemas.openxmlformats.org/drawingml/2006/main">
              <a:ext uri="{FF2B5EF4-FFF2-40B4-BE49-F238E27FC236}">
                <a16:creationId xmlns:a16="http://schemas.microsoft.com/office/drawing/2014/main" id="{EB4F337C-A3FC-4461-9E7F-4F089A6E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4819650"/>
            <a:ext cx="59055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BDD"/>
          </a:solidFill>
          <a:ln xmlns:a="http://schemas.openxmlformats.org/drawingml/2006/main" w="19050">
            <a:solidFill>
              <a:srgbClr val="AA9477"/>
            </a:solidFill>
            <a:prstDash val="solid"/>
          </a:ln>
        </p:spPr>
      </p:sp>
      <p:sp>
        <p:nvSpPr>
          <p:cNvPr id="88" name="Obsolete continuation">
            <a:extLst xmlns:a="http://schemas.openxmlformats.org/drawingml/2006/main">
              <a:ext uri="{FF2B5EF4-FFF2-40B4-BE49-F238E27FC236}">
                <a16:creationId xmlns:a16="http://schemas.microsoft.com/office/drawing/2014/main" id="{61EE6305-E401-4723-8247-1C27B628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457700"/>
            <a:ext cx="752475" cy="361950"/>
          </a:xfrm>
          <a:custGeom xmlns:a="http://schemas.openxmlformats.org/drawingml/2006/main">
            <a:pathLst>
              <a:path w="752475" h="361950">
                <a:moveTo>
                  <a:pt x="752475" y="0"/>
                </a:moveTo>
                <a:lnTo>
                  <a:pt x="752475" y="133350"/>
                </a:lnTo>
                <a:lnTo>
                  <a:pt x="0" y="133350"/>
                </a:lnTo>
                <a:lnTo>
                  <a:pt x="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A5B4BC"/>
            </a:solidFill>
            <a:prstDash val="dash"/>
          </a:ln>
        </p:spPr>
      </p:sp>
      <p:sp>
        <p:nvSpPr>
          <p:cNvPr id="89" name="Obsolete continuation arrowhead">
            <a:extLst xmlns:a="http://schemas.openxmlformats.org/drawingml/2006/main">
              <a:ext uri="{FF2B5EF4-FFF2-40B4-BE49-F238E27FC236}">
                <a16:creationId xmlns:a16="http://schemas.microsoft.com/office/drawing/2014/main" id="{B6F42C9D-8301-4932-B1AE-932D1ECB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715" y="4743450"/>
            <a:ext cx="83820" cy="76200"/>
          </a:xfrm>
          <a:custGeom xmlns:a="http://schemas.openxmlformats.org/drawingml/2006/main">
            <a:pathLst>
              <a:path w="83820" h="76200">
                <a:moveTo>
                  <a:pt x="41910" y="76200"/>
                </a:moveTo>
                <a:lnTo>
                  <a:pt x="0" y="0"/>
                </a:lnTo>
                <a:lnTo>
                  <a:pt x="83820" y="0"/>
                </a:lnTo>
                <a:close/>
              </a:path>
            </a:pathLst>
          </a:custGeom>
          <a:solidFill xmlns:a="http://schemas.openxmlformats.org/drawingml/2006/main">
            <a:srgbClr val="A5B4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Cancel old target">
            <a:extLst xmlns:a="http://schemas.openxmlformats.org/drawingml/2006/main">
              <a:ext uri="{FF2B5EF4-FFF2-40B4-BE49-F238E27FC236}">
                <a16:creationId xmlns:a16="http://schemas.microsoft.com/office/drawing/2014/main" id="{49049986-0AEC-44F9-A243-86F1E85B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243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C6534F"/>
            </a:solidFill>
            <a:prstDash val="solid"/>
          </a:ln>
        </p:spPr>
      </p:sp>
      <p:sp>
        <p:nvSpPr>
          <p:cNvPr id="91" name="Cancel old target other">
            <a:extLst xmlns:a="http://schemas.openxmlformats.org/drawingml/2006/main">
              <a:ext uri="{FF2B5EF4-FFF2-40B4-BE49-F238E27FC236}">
                <a16:creationId xmlns:a16="http://schemas.microsoft.com/office/drawing/2014/main" id="{C66209CB-FC2C-4BF1-8A53-5158E739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243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123825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C6534F"/>
            </a:solidFill>
            <a:prstDash val="solid"/>
          </a:ln>
        </p:spPr>
      </p:sp>
      <p:sp>
        <p:nvSpPr>
          <p:cNvPr id="92" name="Updated continuation">
            <a:extLst xmlns:a="http://schemas.openxmlformats.org/drawingml/2006/main">
              <a:ext uri="{FF2B5EF4-FFF2-40B4-BE49-F238E27FC236}">
                <a16:creationId xmlns:a16="http://schemas.microsoft.com/office/drawing/2014/main" id="{1FBC4774-7C61-493D-99D9-C931B9ED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57700"/>
            <a:ext cx="1076325" cy="238125"/>
          </a:xfrm>
          <a:custGeom xmlns:a="http://schemas.openxmlformats.org/drawingml/2006/main">
            <a:pathLst>
              <a:path w="1076325" h="238125">
                <a:moveTo>
                  <a:pt x="0" y="0"/>
                </a:moveTo>
                <a:lnTo>
                  <a:pt x="1076325" y="0"/>
                </a:lnTo>
                <a:lnTo>
                  <a:pt x="1076325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4F796F"/>
            </a:solidFill>
            <a:prstDash val="solid"/>
          </a:ln>
        </p:spPr>
      </p:sp>
      <p:sp>
        <p:nvSpPr>
          <p:cNvPr id="93" name="Updated continuation arrowhead">
            <a:extLst xmlns:a="http://schemas.openxmlformats.org/drawingml/2006/main">
              <a:ext uri="{FF2B5EF4-FFF2-40B4-BE49-F238E27FC236}">
                <a16:creationId xmlns:a16="http://schemas.microsoft.com/office/drawing/2014/main" id="{77DC7A38-9D15-4974-BCDC-D647CC98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676" y="4610100"/>
            <a:ext cx="94298" cy="85725"/>
          </a:xfrm>
          <a:custGeom xmlns:a="http://schemas.openxmlformats.org/drawingml/2006/main">
            <a:pathLst>
              <a:path w="94298" h="85725">
                <a:moveTo>
                  <a:pt x="47149" y="85725"/>
                </a:moveTo>
                <a:lnTo>
                  <a:pt x="0" y="0"/>
                </a:lnTo>
                <a:lnTo>
                  <a:pt x="94298" y="0"/>
                </a:lnTo>
                <a:close/>
              </a:path>
            </a:pathLst>
          </a:custGeom>
          <a:solidFill xmlns:a="http://schemas.openxmlformats.org/drawingml/2006/main">
            <a:srgbClr val="4F7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Old destination label">
            <a:extLst xmlns:a="http://schemas.openxmlformats.org/drawingml/2006/main">
              <a:ext uri="{FF2B5EF4-FFF2-40B4-BE49-F238E27FC236}">
                <a16:creationId xmlns:a16="http://schemas.microsoft.com/office/drawing/2014/main" id="{50AA4BAD-DB70-44B8-854C-C0525122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435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D89"/>
                </a:solidFill>
                <a:latin typeface="Arial"/>
                <a:ea typeface="Arial"/>
                <a:cs typeface="Arial"/>
              </a:rPr>
              <a:t>Old target</a:t>
            </a:r>
          </a:p>
        </p:txBody>
      </p:sp>
      <p:sp>
        <p:nvSpPr>
          <p:cNvPr id="95" name="Updated destination label">
            <a:extLst xmlns:a="http://schemas.openxmlformats.org/drawingml/2006/main">
              <a:ext uri="{FF2B5EF4-FFF2-40B4-BE49-F238E27FC236}">
                <a16:creationId xmlns:a16="http://schemas.microsoft.com/office/drawing/2014/main" id="{22C08EE4-1E7E-494F-99DD-E3507734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14350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796F"/>
                </a:solidFill>
                <a:latin typeface="Arial"/>
                <a:ea typeface="Arial"/>
                <a:cs typeface="Arial"/>
              </a:rPr>
              <a:t>New target</a:t>
            </a:r>
          </a:p>
        </p:txBody>
      </p:sp>
      <p:sp>
        <p:nvSpPr>
          <p:cNvPr id="96" name="Control family 1">
            <a:extLst xmlns:a="http://schemas.openxmlformats.org/drawingml/2006/main">
              <a:ext uri="{FF2B5EF4-FFF2-40B4-BE49-F238E27FC236}">
                <a16:creationId xmlns:a16="http://schemas.microsoft.com/office/drawing/2014/main" id="{ECEB06EB-1668-4640-8779-DEE94F8E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476875"/>
            <a:ext cx="392430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3E4B"/>
                </a:solidFill>
                <a:latin typeface="Arial"/>
                <a:ea typeface="Arial"/>
                <a:cs typeface="Arial"/>
              </a:rPr>
              <a:t>Target correction</a:t>
            </a:r>
          </a:p>
        </p:txBody>
      </p:sp>
      <p:sp>
        <p:nvSpPr>
          <p:cNvPr id="97" name="Control family 2">
            <a:extLst xmlns:a="http://schemas.openxmlformats.org/drawingml/2006/main">
              <a:ext uri="{FF2B5EF4-FFF2-40B4-BE49-F238E27FC236}">
                <a16:creationId xmlns:a16="http://schemas.microsoft.com/office/drawing/2014/main" id="{D57C23EC-14EE-4BC9-8D82-A1F20216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753100"/>
            <a:ext cx="392430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3E4B"/>
                </a:solidFill>
                <a:latin typeface="Arial"/>
                <a:ea typeface="Arial"/>
                <a:cs typeface="Arial"/>
              </a:rPr>
              <a:t>Process re-planning</a:t>
            </a:r>
          </a:p>
        </p:txBody>
      </p:sp>
      <p:sp>
        <p:nvSpPr>
          <p:cNvPr id="98" name="Controlled start">
            <a:extLst xmlns:a="http://schemas.openxmlformats.org/drawingml/2006/main">
              <a:ext uri="{FF2B5EF4-FFF2-40B4-BE49-F238E27FC236}">
                <a16:creationId xmlns:a16="http://schemas.microsoft.com/office/drawing/2014/main" id="{9D68979F-41DE-44A9-B5E9-F0614313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029325"/>
            <a:ext cx="392430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88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defPPr>
            <a:lvl1pPr algn="l">
              <a:defRPr sz="1688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1pPr>
            <a:lvl2pPr algn="l">
              <a:defRPr sz="1688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2pPr>
            <a:lvl3pPr algn="l">
              <a:defRPr sz="1688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3pPr>
            <a:lvl4pPr algn="l">
              <a:defRPr sz="1688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4pPr>
            <a:lvl5pPr algn="l">
              <a:defRPr sz="1688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5pPr>
            <a:lvl6pPr algn="l">
              <a:defRPr sz="1688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6pPr>
            <a:lvl7pPr algn="l">
              <a:defRPr sz="1688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7pPr>
            <a:lvl8pPr algn="l">
              <a:defRPr sz="1688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8pPr>
            <a:lvl9pPr algn="l">
              <a:defRPr sz="1688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88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657D89"/>
                </a:solidFill>
                <a:latin typeface="Arial"/>
                <a:ea typeface="Arial"/>
                <a:cs typeface="Arial"/>
              </a:rPr>
              <a:t>Matched intermediate states</a:t>
            </a:r>
          </a:p>
        </p:txBody>
      </p:sp>
      <p:sp>
        <p:nvSpPr>
          <p:cNvPr id="99" name="Initialization coverage panel">
            <a:extLst xmlns:a="http://schemas.openxmlformats.org/drawingml/2006/main">
              <a:ext uri="{FF2B5EF4-FFF2-40B4-BE49-F238E27FC236}">
                <a16:creationId xmlns:a16="http://schemas.microsoft.com/office/drawing/2014/main" id="{8FB4C1B9-7FE4-412A-BA61-DBF5ACB2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91300"/>
            <a:ext cx="426720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DE0"/>
            </a:solidFill>
            <a:prstDash val="solid"/>
          </a:ln>
        </p:spPr>
      </p:sp>
      <p:sp>
        <p:nvSpPr>
          <p:cNvPr id="100" name="Initialization title">
            <a:extLst xmlns:a="http://schemas.openxmlformats.org/drawingml/2006/main">
              <a:ext uri="{FF2B5EF4-FFF2-40B4-BE49-F238E27FC236}">
                <a16:creationId xmlns:a16="http://schemas.microsoft.com/office/drawing/2014/main" id="{5164E62C-8064-4505-87CD-2D69847D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724650"/>
            <a:ext cx="39243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86C84"/>
                </a:solidFill>
                <a:latin typeface="Arial"/>
                <a:ea typeface="Arial"/>
                <a:cs typeface="Arial"/>
              </a:rPr>
              <a:t>(d) Initialization coverage</a:t>
            </a:r>
          </a:p>
        </p:txBody>
      </p:sp>
      <p:sp>
        <p:nvSpPr>
          <p:cNvPr id="101" name="Initialization factorization">
            <a:extLst xmlns:a="http://schemas.openxmlformats.org/drawingml/2006/main">
              <a:ext uri="{FF2B5EF4-FFF2-40B4-BE49-F238E27FC236}">
                <a16:creationId xmlns:a16="http://schemas.microsoft.com/office/drawing/2014/main" id="{6886092A-95F4-4702-9B92-08FDC9A0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72325"/>
            <a:ext cx="392430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B3E4B"/>
                </a:solidFill>
                <a:latin typeface="Arial"/>
                <a:ea typeface="Arial"/>
                <a:cs typeface="Arial"/>
              </a:rPr>
              <a:t>10 macro layouts × 5 local variants</a:t>
            </a:r>
          </a:p>
        </p:txBody>
      </p:sp>
      <p:sp>
        <p:nvSpPr>
          <p:cNvPr id="102" name="Macro layout schematic 0">
            <a:extLst xmlns:a="http://schemas.openxmlformats.org/drawingml/2006/main">
              <a:ext uri="{FF2B5EF4-FFF2-40B4-BE49-F238E27FC236}">
                <a16:creationId xmlns:a16="http://schemas.microsoft.com/office/drawing/2014/main" id="{40B0133C-0149-4019-9098-C0814BB3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7639050"/>
            <a:ext cx="10858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11430">
            <a:solidFill>
              <a:srgbClr val="D5E0E5"/>
            </a:solidFill>
            <a:prstDash val="solid"/>
          </a:ln>
        </p:spPr>
      </p:sp>
      <p:sp>
        <p:nvSpPr>
          <p:cNvPr id="103" name="Local initialization variant">
            <a:extLst xmlns:a="http://schemas.openxmlformats.org/drawingml/2006/main">
              <a:ext uri="{FF2B5EF4-FFF2-40B4-BE49-F238E27FC236}">
                <a16:creationId xmlns:a16="http://schemas.microsoft.com/office/drawing/2014/main" id="{2E6F6B28-7C06-4ABB-99FF-762706A5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3" y="7921943"/>
            <a:ext cx="43815" cy="4381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6C84"/>
            </a:solidFill>
            <a:prstDash val="solid"/>
          </a:ln>
        </p:spPr>
      </p:sp>
      <p:sp>
        <p:nvSpPr>
          <p:cNvPr id="104" name="Local initialization variant">
            <a:extLst xmlns:a="http://schemas.openxmlformats.org/drawingml/2006/main">
              <a:ext uri="{FF2B5EF4-FFF2-40B4-BE49-F238E27FC236}">
                <a16:creationId xmlns:a16="http://schemas.microsoft.com/office/drawing/2014/main" id="{1EA04BBC-455A-4DD8-8C8A-68B204DA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8" y="7921943"/>
            <a:ext cx="43815" cy="4381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6C84"/>
            </a:solidFill>
            <a:prstDash val="solid"/>
          </a:ln>
        </p:spPr>
      </p:sp>
      <p:sp>
        <p:nvSpPr>
          <p:cNvPr id="105" name="Local initialization variant">
            <a:extLst xmlns:a="http://schemas.openxmlformats.org/drawingml/2006/main">
              <a:ext uri="{FF2B5EF4-FFF2-40B4-BE49-F238E27FC236}">
                <a16:creationId xmlns:a16="http://schemas.microsoft.com/office/drawing/2014/main" id="{B4210F01-89F1-464C-9004-087F6A6A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3" y="8036243"/>
            <a:ext cx="43815" cy="4381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6C84"/>
            </a:solidFill>
            <a:prstDash val="solid"/>
          </a:ln>
        </p:spPr>
      </p:sp>
      <p:sp>
        <p:nvSpPr>
          <p:cNvPr id="106" name="Local initialization variant">
            <a:extLst xmlns:a="http://schemas.openxmlformats.org/drawingml/2006/main">
              <a:ext uri="{FF2B5EF4-FFF2-40B4-BE49-F238E27FC236}">
                <a16:creationId xmlns:a16="http://schemas.microsoft.com/office/drawing/2014/main" id="{DAF1EC10-E0F2-4787-A988-4FCC8EF8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8" y="8036243"/>
            <a:ext cx="43815" cy="4381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6C84"/>
            </a:solidFill>
            <a:prstDash val="solid"/>
          </a:ln>
        </p:spPr>
      </p:sp>
      <p:sp>
        <p:nvSpPr>
          <p:cNvPr id="107" name="Local initialization variant">
            <a:extLst xmlns:a="http://schemas.openxmlformats.org/drawingml/2006/main">
              <a:ext uri="{FF2B5EF4-FFF2-40B4-BE49-F238E27FC236}">
                <a16:creationId xmlns:a16="http://schemas.microsoft.com/office/drawing/2014/main" id="{65D0CB8F-871B-46EE-BBE8-F0D82418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8" y="7969568"/>
            <a:ext cx="43815" cy="4381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6C84"/>
            </a:solidFill>
            <a:prstDash val="solid"/>
          </a:ln>
        </p:spPr>
      </p:sp>
      <p:sp>
        <p:nvSpPr>
          <p:cNvPr id="108" name="Layout target">
            <a:extLst xmlns:a="http://schemas.openxmlformats.org/drawingml/2006/main">
              <a:ext uri="{FF2B5EF4-FFF2-40B4-BE49-F238E27FC236}">
                <a16:creationId xmlns:a16="http://schemas.microsoft.com/office/drawing/2014/main" id="{D209A9A6-6B61-4A95-A00B-B991BF15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7829550"/>
            <a:ext cx="22860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DE"/>
          </a:solidFill>
          <a:ln xmlns:a="http://schemas.openxmlformats.org/drawingml/2006/main" w="11430">
            <a:solidFill>
              <a:srgbClr val="4F796F"/>
            </a:solidFill>
            <a:prstDash val="solid"/>
          </a:ln>
        </p:spPr>
      </p:sp>
      <p:sp>
        <p:nvSpPr>
          <p:cNvPr id="109" name="Layout context object">
            <a:extLst xmlns:a="http://schemas.openxmlformats.org/drawingml/2006/main">
              <a:ext uri="{FF2B5EF4-FFF2-40B4-BE49-F238E27FC236}">
                <a16:creationId xmlns:a16="http://schemas.microsoft.com/office/drawing/2014/main" id="{70B82548-7F43-49E7-988D-D0F3D827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8096250"/>
            <a:ext cx="11430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2C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Layout example 0">
            <a:extLst xmlns:a="http://schemas.openxmlformats.org/drawingml/2006/main">
              <a:ext uri="{FF2B5EF4-FFF2-40B4-BE49-F238E27FC236}">
                <a16:creationId xmlns:a16="http://schemas.microsoft.com/office/drawing/2014/main" id="{C5A3CA6D-7CD5-4110-A2EE-60151DA4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defPPr>
            <a:lvl1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1pPr>
            <a:lvl2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2pPr>
            <a:lvl3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3pPr>
            <a:lvl4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4pPr>
            <a:lvl5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5pPr>
            <a:lvl6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6pPr>
            <a:lvl7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7pPr>
            <a:lvl8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8pPr>
            <a:lvl9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57D89"/>
                </a:solidFill>
                <a:latin typeface="Arial"/>
                <a:ea typeface="Arial"/>
                <a:cs typeface="Arial"/>
              </a:rPr>
              <a:t>Layout 1</a:t>
            </a:r>
          </a:p>
        </p:txBody>
      </p:sp>
      <p:sp>
        <p:nvSpPr>
          <p:cNvPr id="111" name="Macro layout schematic 1">
            <a:extLst xmlns:a="http://schemas.openxmlformats.org/drawingml/2006/main">
              <a:ext uri="{FF2B5EF4-FFF2-40B4-BE49-F238E27FC236}">
                <a16:creationId xmlns:a16="http://schemas.microsoft.com/office/drawing/2014/main" id="{777A3199-4E83-487E-875C-811884EA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7639050"/>
            <a:ext cx="10858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11430">
            <a:solidFill>
              <a:srgbClr val="D5E0E5"/>
            </a:solidFill>
            <a:prstDash val="solid"/>
          </a:ln>
        </p:spPr>
      </p:sp>
      <p:sp>
        <p:nvSpPr>
          <p:cNvPr id="112" name="Local initialization variant">
            <a:extLst xmlns:a="http://schemas.openxmlformats.org/drawingml/2006/main">
              <a:ext uri="{FF2B5EF4-FFF2-40B4-BE49-F238E27FC236}">
                <a16:creationId xmlns:a16="http://schemas.microsoft.com/office/drawing/2014/main" id="{3B73B416-E167-4CB5-AC64-1F6DB41E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118" y="7826693"/>
            <a:ext cx="43815" cy="4381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6C84"/>
            </a:solidFill>
            <a:prstDash val="solid"/>
          </a:ln>
        </p:spPr>
      </p:sp>
      <p:sp>
        <p:nvSpPr>
          <p:cNvPr id="113" name="Local initialization variant">
            <a:extLst xmlns:a="http://schemas.openxmlformats.org/drawingml/2006/main">
              <a:ext uri="{FF2B5EF4-FFF2-40B4-BE49-F238E27FC236}">
                <a16:creationId xmlns:a16="http://schemas.microsoft.com/office/drawing/2014/main" id="{88722C00-752A-4611-932D-668F501F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043" y="7826693"/>
            <a:ext cx="43815" cy="4381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6C84"/>
            </a:solidFill>
            <a:prstDash val="solid"/>
          </a:ln>
        </p:spPr>
      </p:sp>
      <p:sp>
        <p:nvSpPr>
          <p:cNvPr id="114" name="Local initialization variant">
            <a:extLst xmlns:a="http://schemas.openxmlformats.org/drawingml/2006/main">
              <a:ext uri="{FF2B5EF4-FFF2-40B4-BE49-F238E27FC236}">
                <a16:creationId xmlns:a16="http://schemas.microsoft.com/office/drawing/2014/main" id="{4855F851-868F-4AEC-A37C-1920FD28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168" y="7940993"/>
            <a:ext cx="43815" cy="4381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6C84"/>
            </a:solidFill>
            <a:prstDash val="solid"/>
          </a:ln>
        </p:spPr>
      </p:sp>
      <p:sp>
        <p:nvSpPr>
          <p:cNvPr id="115" name="Local initialization variant">
            <a:extLst xmlns:a="http://schemas.openxmlformats.org/drawingml/2006/main">
              <a:ext uri="{FF2B5EF4-FFF2-40B4-BE49-F238E27FC236}">
                <a16:creationId xmlns:a16="http://schemas.microsoft.com/office/drawing/2014/main" id="{B8798273-B9FB-4FA3-943D-28ED44C4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043" y="7940993"/>
            <a:ext cx="43815" cy="4381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6C84"/>
            </a:solidFill>
            <a:prstDash val="solid"/>
          </a:ln>
        </p:spPr>
      </p:sp>
      <p:sp>
        <p:nvSpPr>
          <p:cNvPr id="116" name="Local initialization variant">
            <a:extLst xmlns:a="http://schemas.openxmlformats.org/drawingml/2006/main">
              <a:ext uri="{FF2B5EF4-FFF2-40B4-BE49-F238E27FC236}">
                <a16:creationId xmlns:a16="http://schemas.microsoft.com/office/drawing/2014/main" id="{6AFC70A2-B8C9-41CF-AFE1-E8406E83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843" y="7874318"/>
            <a:ext cx="43815" cy="4381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6C84"/>
            </a:solidFill>
            <a:prstDash val="solid"/>
          </a:ln>
        </p:spPr>
      </p:sp>
      <p:sp>
        <p:nvSpPr>
          <p:cNvPr id="117" name="Layout target">
            <a:extLst xmlns:a="http://schemas.openxmlformats.org/drawingml/2006/main">
              <a:ext uri="{FF2B5EF4-FFF2-40B4-BE49-F238E27FC236}">
                <a16:creationId xmlns:a16="http://schemas.microsoft.com/office/drawing/2014/main" id="{05F51DF5-8A80-48DD-B9BF-99C66500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8010525"/>
            <a:ext cx="22860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DE"/>
          </a:solidFill>
          <a:ln xmlns:a="http://schemas.openxmlformats.org/drawingml/2006/main" w="11430">
            <a:solidFill>
              <a:srgbClr val="4F796F"/>
            </a:solidFill>
            <a:prstDash val="solid"/>
          </a:ln>
        </p:spPr>
      </p:sp>
      <p:sp>
        <p:nvSpPr>
          <p:cNvPr id="118" name="Layout context object">
            <a:extLst xmlns:a="http://schemas.openxmlformats.org/drawingml/2006/main">
              <a:ext uri="{FF2B5EF4-FFF2-40B4-BE49-F238E27FC236}">
                <a16:creationId xmlns:a16="http://schemas.microsoft.com/office/drawing/2014/main" id="{4FB59EE2-2EF5-4224-8417-14445159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7781925"/>
            <a:ext cx="11430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2C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Layout example 1">
            <a:extLst xmlns:a="http://schemas.openxmlformats.org/drawingml/2006/main">
              <a:ext uri="{FF2B5EF4-FFF2-40B4-BE49-F238E27FC236}">
                <a16:creationId xmlns:a16="http://schemas.microsoft.com/office/drawing/2014/main" id="{9D2C7E14-4C96-4BD5-852C-F8CDF070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2867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defPPr>
            <a:lvl1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1pPr>
            <a:lvl2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2pPr>
            <a:lvl3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3pPr>
            <a:lvl4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4pPr>
            <a:lvl5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5pPr>
            <a:lvl6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6pPr>
            <a:lvl7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7pPr>
            <a:lvl8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8pPr>
            <a:lvl9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57D89"/>
                </a:solidFill>
                <a:latin typeface="Arial"/>
                <a:ea typeface="Arial"/>
                <a:cs typeface="Arial"/>
              </a:rPr>
              <a:t>Layout 2</a:t>
            </a:r>
          </a:p>
        </p:txBody>
      </p:sp>
      <p:sp>
        <p:nvSpPr>
          <p:cNvPr id="120" name="Macro layout schematic 2">
            <a:extLst xmlns:a="http://schemas.openxmlformats.org/drawingml/2006/main">
              <a:ext uri="{FF2B5EF4-FFF2-40B4-BE49-F238E27FC236}">
                <a16:creationId xmlns:a16="http://schemas.microsoft.com/office/drawing/2014/main" id="{6B49656E-0CB6-478B-991F-A2A8F024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7639050"/>
            <a:ext cx="10858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11430">
            <a:solidFill>
              <a:srgbClr val="D5E0E5"/>
            </a:solidFill>
            <a:prstDash val="solid"/>
          </a:ln>
        </p:spPr>
      </p:sp>
      <p:sp>
        <p:nvSpPr>
          <p:cNvPr id="121" name="Local initialization variant">
            <a:extLst xmlns:a="http://schemas.openxmlformats.org/drawingml/2006/main">
              <a:ext uri="{FF2B5EF4-FFF2-40B4-BE49-F238E27FC236}">
                <a16:creationId xmlns:a16="http://schemas.microsoft.com/office/drawing/2014/main" id="{C59E194D-DF4A-4FBD-88CB-6A2F491A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318" y="7798118"/>
            <a:ext cx="43815" cy="4381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6C84"/>
            </a:solidFill>
            <a:prstDash val="solid"/>
          </a:ln>
        </p:spPr>
      </p:sp>
      <p:sp>
        <p:nvSpPr>
          <p:cNvPr id="122" name="Local initialization variant">
            <a:extLst xmlns:a="http://schemas.openxmlformats.org/drawingml/2006/main">
              <a:ext uri="{FF2B5EF4-FFF2-40B4-BE49-F238E27FC236}">
                <a16:creationId xmlns:a16="http://schemas.microsoft.com/office/drawing/2014/main" id="{FD34BD1E-6889-4579-ADB6-23EFE049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243" y="7798118"/>
            <a:ext cx="43815" cy="4381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6C84"/>
            </a:solidFill>
            <a:prstDash val="solid"/>
          </a:ln>
        </p:spPr>
      </p:sp>
      <p:sp>
        <p:nvSpPr>
          <p:cNvPr id="123" name="Local initialization variant">
            <a:extLst xmlns:a="http://schemas.openxmlformats.org/drawingml/2006/main">
              <a:ext uri="{FF2B5EF4-FFF2-40B4-BE49-F238E27FC236}">
                <a16:creationId xmlns:a16="http://schemas.microsoft.com/office/drawing/2014/main" id="{E620B9C6-0B4D-4A86-A58E-437E3A10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1368" y="7912418"/>
            <a:ext cx="43815" cy="4381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6C84"/>
            </a:solidFill>
            <a:prstDash val="solid"/>
          </a:ln>
        </p:spPr>
      </p:sp>
      <p:sp>
        <p:nvSpPr>
          <p:cNvPr id="124" name="Local initialization variant">
            <a:extLst xmlns:a="http://schemas.openxmlformats.org/drawingml/2006/main">
              <a:ext uri="{FF2B5EF4-FFF2-40B4-BE49-F238E27FC236}">
                <a16:creationId xmlns:a16="http://schemas.microsoft.com/office/drawing/2014/main" id="{67061C54-7639-403F-AC90-A711FC7A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243" y="7912418"/>
            <a:ext cx="43815" cy="4381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6C84"/>
            </a:solidFill>
            <a:prstDash val="solid"/>
          </a:ln>
        </p:spPr>
      </p:sp>
      <p:sp>
        <p:nvSpPr>
          <p:cNvPr id="125" name="Local initialization variant">
            <a:extLst xmlns:a="http://schemas.openxmlformats.org/drawingml/2006/main">
              <a:ext uri="{FF2B5EF4-FFF2-40B4-BE49-F238E27FC236}">
                <a16:creationId xmlns:a16="http://schemas.microsoft.com/office/drawing/2014/main" id="{3A99E39A-26FD-4040-A2D2-40ACEEA9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043" y="7845743"/>
            <a:ext cx="43815" cy="4381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86C84"/>
            </a:solidFill>
            <a:prstDash val="solid"/>
          </a:ln>
        </p:spPr>
      </p:sp>
      <p:sp>
        <p:nvSpPr>
          <p:cNvPr id="126" name="Layout target">
            <a:extLst xmlns:a="http://schemas.openxmlformats.org/drawingml/2006/main">
              <a:ext uri="{FF2B5EF4-FFF2-40B4-BE49-F238E27FC236}">
                <a16:creationId xmlns:a16="http://schemas.microsoft.com/office/drawing/2014/main" id="{CFE2B324-B538-473F-8828-C4C737BC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029575"/>
            <a:ext cx="22860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DE"/>
          </a:solidFill>
          <a:ln xmlns:a="http://schemas.openxmlformats.org/drawingml/2006/main" w="11430">
            <a:solidFill>
              <a:srgbClr val="4F796F"/>
            </a:solidFill>
            <a:prstDash val="solid"/>
          </a:ln>
        </p:spPr>
      </p:sp>
      <p:sp>
        <p:nvSpPr>
          <p:cNvPr id="127" name="Layout context object">
            <a:extLst xmlns:a="http://schemas.openxmlformats.org/drawingml/2006/main">
              <a:ext uri="{FF2B5EF4-FFF2-40B4-BE49-F238E27FC236}">
                <a16:creationId xmlns:a16="http://schemas.microsoft.com/office/drawing/2014/main" id="{AB03D692-0CF2-46F0-9E3A-57C84BE1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8077200"/>
            <a:ext cx="11430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2C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Layout example 2">
            <a:extLst xmlns:a="http://schemas.openxmlformats.org/drawingml/2006/main">
              <a:ext uri="{FF2B5EF4-FFF2-40B4-BE49-F238E27FC236}">
                <a16:creationId xmlns:a16="http://schemas.microsoft.com/office/drawing/2014/main" id="{59A54D93-762F-4FCA-9AA8-E5BEC68D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82867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defPPr>
            <a:lvl1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1pPr>
            <a:lvl2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2pPr>
            <a:lvl3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3pPr>
            <a:lvl4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4pPr>
            <a:lvl5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5pPr>
            <a:lvl6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6pPr>
            <a:lvl7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7pPr>
            <a:lvl8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8pPr>
            <a:lvl9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57D89"/>
                </a:solidFill>
                <a:latin typeface="Arial"/>
                <a:ea typeface="Arial"/>
                <a:cs typeface="Arial"/>
              </a:rPr>
              <a:t>… Layout 10</a:t>
            </a:r>
          </a:p>
        </p:txBody>
      </p:sp>
      <p:sp>
        <p:nvSpPr>
          <p:cNvPr id="129" name="Initializations per task">
            <a:extLst xmlns:a="http://schemas.openxmlformats.org/drawingml/2006/main">
              <a:ext uri="{FF2B5EF4-FFF2-40B4-BE49-F238E27FC236}">
                <a16:creationId xmlns:a16="http://schemas.microsoft.com/office/drawing/2014/main" id="{8CBD2886-72D1-489A-9778-4F7A05D6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0"/>
            <a:ext cx="3924300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86C84"/>
                </a:solidFill>
                <a:latin typeface="Arial"/>
                <a:ea typeface="Arial"/>
                <a:cs typeface="Arial"/>
              </a:rPr>
              <a:t>50 initializations / task</a:t>
            </a:r>
          </a:p>
        </p:txBody>
      </p:sp>
      <p:sp>
        <p:nvSpPr>
          <p:cNvPr id="130" name="Control initialization convention">
            <a:extLst xmlns:a="http://schemas.openxmlformats.org/drawingml/2006/main">
              <a:ext uri="{FF2B5EF4-FFF2-40B4-BE49-F238E27FC236}">
                <a16:creationId xmlns:a16="http://schemas.microsoft.com/office/drawing/2014/main" id="{D94F18FE-B199-40FC-AC86-1EA2DE2D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105900"/>
            <a:ext cx="392430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D89"/>
                </a:solidFill>
                <a:latin typeface="Arial"/>
                <a:ea typeface="Arial"/>
                <a:cs typeface="Arial"/>
              </a:rPr>
              <a:t>Control: matched intermediate states</a:t>
            </a:r>
          </a:p>
        </p:txBody>
      </p:sp>
      <p:sp>
        <p:nvSpPr>
          <p:cNvPr id="131" name="Trajectory-level evaluation panel">
            <a:extLst xmlns:a="http://schemas.openxmlformats.org/drawingml/2006/main">
              <a:ext uri="{FF2B5EF4-FFF2-40B4-BE49-F238E27FC236}">
                <a16:creationId xmlns:a16="http://schemas.microsoft.com/office/drawing/2014/main" id="{3CB9AFA1-EFD6-4180-A482-1D82B6B8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591300"/>
            <a:ext cx="868680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DE0"/>
            </a:solidFill>
            <a:prstDash val="solid"/>
          </a:ln>
        </p:spPr>
      </p:sp>
      <p:sp>
        <p:nvSpPr>
          <p:cNvPr id="132" name="Contract title">
            <a:extLst xmlns:a="http://schemas.openxmlformats.org/drawingml/2006/main">
              <a:ext uri="{FF2B5EF4-FFF2-40B4-BE49-F238E27FC236}">
                <a16:creationId xmlns:a16="http://schemas.microsoft.com/office/drawing/2014/main" id="{BDE09B85-F203-4683-880F-B1DE239B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6724650"/>
            <a:ext cx="83439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86C84"/>
                </a:solidFill>
                <a:latin typeface="Arial"/>
                <a:ea typeface="Arial"/>
                <a:cs typeface="Arial"/>
              </a:rPr>
              <a:t>(e) Trajectory-level contracts</a:t>
            </a:r>
          </a:p>
        </p:txBody>
      </p:sp>
      <p:sp>
        <p:nvSpPr>
          <p:cNvPr id="133" name="Correct target G criterion">
            <a:extLst xmlns:a="http://schemas.openxmlformats.org/drawingml/2006/main">
              <a:ext uri="{FF2B5EF4-FFF2-40B4-BE49-F238E27FC236}">
                <a16:creationId xmlns:a16="http://schemas.microsoft.com/office/drawing/2014/main" id="{353ED967-3B81-4CCF-9EFB-B1990ABD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7219950"/>
            <a:ext cx="2628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Correct target G">
            <a:extLst xmlns:a="http://schemas.openxmlformats.org/drawingml/2006/main">
              <a:ext uri="{FF2B5EF4-FFF2-40B4-BE49-F238E27FC236}">
                <a16:creationId xmlns:a16="http://schemas.microsoft.com/office/drawing/2014/main" id="{8C588B74-151F-4E31-A2DA-AB17ACE8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3342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86C84"/>
                </a:solidFill>
                <a:latin typeface="Arial"/>
                <a:ea typeface="Arial"/>
                <a:cs typeface="Arial"/>
              </a:rPr>
              <a:t>Correct target G</a:t>
            </a:r>
          </a:p>
        </p:txBody>
      </p:sp>
      <p:sp>
        <p:nvSpPr>
          <p:cNvPr id="135" name="Correct target G detail">
            <a:extLst xmlns:a="http://schemas.openxmlformats.org/drawingml/2006/main">
              <a:ext uri="{FF2B5EF4-FFF2-40B4-BE49-F238E27FC236}">
                <a16:creationId xmlns:a16="http://schemas.microsoft.com/office/drawing/2014/main" id="{14F2383F-47B2-4666-A00D-EB727681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7915275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2B3E4B"/>
                </a:solidFill>
                <a:latin typeface="Arial"/>
                <a:ea typeface="Arial"/>
                <a:cs typeface="Arial"/>
              </a:rPr>
              <a:t>Target and relation</a:t>
            </a:r>
          </a:p>
        </p:txBody>
      </p:sp>
      <p:sp>
        <p:nvSpPr>
          <p:cNvPr id="136" name="Valid process H criterion">
            <a:extLst xmlns:a="http://schemas.openxmlformats.org/drawingml/2006/main">
              <a:ext uri="{FF2B5EF4-FFF2-40B4-BE49-F238E27FC236}">
                <a16:creationId xmlns:a16="http://schemas.microsoft.com/office/drawing/2014/main" id="{02720FB1-4691-4658-A18F-1BBCBE32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7219950"/>
            <a:ext cx="2628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F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Valid process H">
            <a:extLst xmlns:a="http://schemas.openxmlformats.org/drawingml/2006/main">
              <a:ext uri="{FF2B5EF4-FFF2-40B4-BE49-F238E27FC236}">
                <a16:creationId xmlns:a16="http://schemas.microsoft.com/office/drawing/2014/main" id="{943C2006-59C9-4298-BD6E-CA73F257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3342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F796F"/>
                </a:solidFill>
                <a:latin typeface="Arial"/>
                <a:ea typeface="Arial"/>
                <a:cs typeface="Arial"/>
              </a:rPr>
              <a:t>Valid process H</a:t>
            </a:r>
          </a:p>
        </p:txBody>
      </p:sp>
      <p:sp>
        <p:nvSpPr>
          <p:cNvPr id="138" name="Valid process H detail">
            <a:extLst xmlns:a="http://schemas.openxmlformats.org/drawingml/2006/main">
              <a:ext uri="{FF2B5EF4-FFF2-40B4-BE49-F238E27FC236}">
                <a16:creationId xmlns:a16="http://schemas.microsoft.com/office/drawing/2014/main" id="{993B2C7F-99F5-42CC-9804-F3F85307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7915275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2B3E4B"/>
                </a:solidFill>
                <a:latin typeface="Arial"/>
                <a:ea typeface="Arial"/>
                <a:cs typeface="Arial"/>
              </a:rPr>
              <a:t>Restrictions and order</a:t>
            </a:r>
          </a:p>
        </p:txBody>
      </p:sp>
      <p:sp>
        <p:nvSpPr>
          <p:cNvPr id="139" name="Stable result R criterion">
            <a:extLst xmlns:a="http://schemas.openxmlformats.org/drawingml/2006/main">
              <a:ext uri="{FF2B5EF4-FFF2-40B4-BE49-F238E27FC236}">
                <a16:creationId xmlns:a16="http://schemas.microsoft.com/office/drawing/2014/main" id="{B7557009-86B7-4B76-A6D7-A4C0652F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7219950"/>
            <a:ext cx="2628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Stable result R">
            <a:extLst xmlns:a="http://schemas.openxmlformats.org/drawingml/2006/main">
              <a:ext uri="{FF2B5EF4-FFF2-40B4-BE49-F238E27FC236}">
                <a16:creationId xmlns:a16="http://schemas.microsoft.com/office/drawing/2014/main" id="{86E451C3-EC3D-43AE-8148-2C9BB546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73342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8A705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8A705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8A705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8A705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8A705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8A705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8A705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8A705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8A705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8A70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8A705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A7058"/>
                </a:solidFill>
                <a:latin typeface="Arial"/>
                <a:ea typeface="Arial"/>
                <a:cs typeface="Arial"/>
              </a:rPr>
              <a:t>Stable result R</a:t>
            </a:r>
          </a:p>
        </p:txBody>
      </p:sp>
      <p:sp>
        <p:nvSpPr>
          <p:cNvPr id="141" name="Stable result R detail">
            <a:extLst xmlns:a="http://schemas.openxmlformats.org/drawingml/2006/main">
              <a:ext uri="{FF2B5EF4-FFF2-40B4-BE49-F238E27FC236}">
                <a16:creationId xmlns:a16="http://schemas.microsoft.com/office/drawing/2014/main" id="{3FE7DB86-8B8A-4F01-9151-A60DCFA2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7915275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88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2B3E4B"/>
                </a:solidFill>
                <a:latin typeface="Arial"/>
                <a:ea typeface="Arial"/>
                <a:cs typeface="Arial"/>
              </a:rPr>
              <a:t>Release, hold and stability</a:t>
            </a:r>
          </a:p>
        </p:txBody>
      </p:sp>
      <p:sp>
        <p:nvSpPr>
          <p:cNvPr id="142" name="Contract conjunction 1">
            <a:extLst xmlns:a="http://schemas.openxmlformats.org/drawingml/2006/main">
              <a:ext uri="{FF2B5EF4-FFF2-40B4-BE49-F238E27FC236}">
                <a16:creationId xmlns:a16="http://schemas.microsoft.com/office/drawing/2014/main" id="{5972B68C-C99D-4FC9-994D-808C1344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7505700"/>
            <a:ext cx="114300" cy="133350"/>
          </a:xfrm>
          <a:custGeom xmlns:a="http://schemas.openxmlformats.org/drawingml/2006/main">
            <a:pathLst>
              <a:path w="114300" h="133350">
                <a:moveTo>
                  <a:pt x="0" y="133350"/>
                </a:moveTo>
                <a:lnTo>
                  <a:pt x="57150" y="0"/>
                </a:lnTo>
                <a:lnTo>
                  <a:pt x="1143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B3E4B"/>
            </a:solidFill>
            <a:prstDash val="solid"/>
          </a:ln>
        </p:spPr>
      </p:sp>
      <p:sp>
        <p:nvSpPr>
          <p:cNvPr id="143" name="Contract conjunction 2">
            <a:extLst xmlns:a="http://schemas.openxmlformats.org/drawingml/2006/main">
              <a:ext uri="{FF2B5EF4-FFF2-40B4-BE49-F238E27FC236}">
                <a16:creationId xmlns:a16="http://schemas.microsoft.com/office/drawing/2014/main" id="{70051890-2B9E-4C9D-A2D1-A0DD72B0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7505700"/>
            <a:ext cx="114300" cy="133350"/>
          </a:xfrm>
          <a:custGeom xmlns:a="http://schemas.openxmlformats.org/drawingml/2006/main">
            <a:pathLst>
              <a:path w="114300" h="133350">
                <a:moveTo>
                  <a:pt x="0" y="133350"/>
                </a:moveTo>
                <a:lnTo>
                  <a:pt x="57150" y="0"/>
                </a:lnTo>
                <a:lnTo>
                  <a:pt x="1143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B3E4B"/>
            </a:solidFill>
            <a:prstDash val="solid"/>
          </a:ln>
        </p:spPr>
      </p:sp>
      <p:sp>
        <p:nvSpPr>
          <p:cNvPr id="144" name="Direct-policy protocol">
            <a:extLst xmlns:a="http://schemas.openxmlformats.org/drawingml/2006/main">
              <a:ext uri="{FF2B5EF4-FFF2-40B4-BE49-F238E27FC236}">
                <a16:creationId xmlns:a16="http://schemas.microsoft.com/office/drawing/2014/main" id="{6B16F183-CEC0-4BB1-B19C-1B7F9B68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8391525"/>
            <a:ext cx="1809750" cy="289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86C8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86C84"/>
                </a:solidFill>
                <a:latin typeface="Arial"/>
                <a:ea typeface="Arial"/>
                <a:cs typeface="Arial"/>
              </a:rPr>
              <a:t>Direct policy</a:t>
            </a:r>
          </a:p>
        </p:txBody>
      </p:sp>
      <p:sp>
        <p:nvSpPr>
          <p:cNvPr id="145" name="Direct-policy criterion">
            <a:extLst xmlns:a="http://schemas.openxmlformats.org/drawingml/2006/main">
              <a:ext uri="{FF2B5EF4-FFF2-40B4-BE49-F238E27FC236}">
                <a16:creationId xmlns:a16="http://schemas.microsoft.com/office/drawing/2014/main" id="{10A4D328-229A-45E4-9FC1-8CA4B5D3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8391525"/>
            <a:ext cx="6381750" cy="289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B3E4B"/>
                </a:solidFill>
                <a:latin typeface="Arial"/>
                <a:ea typeface="Arial"/>
                <a:cs typeface="Arial"/>
              </a:rPr>
              <a:t>Strict success for 30 subsequent action steps</a:t>
            </a:r>
          </a:p>
        </p:txBody>
      </p:sp>
      <p:sp>
        <p:nvSpPr>
          <p:cNvPr id="146" name="Agentic-system protocol">
            <a:extLst xmlns:a="http://schemas.openxmlformats.org/drawingml/2006/main">
              <a:ext uri="{FF2B5EF4-FFF2-40B4-BE49-F238E27FC236}">
                <a16:creationId xmlns:a16="http://schemas.microsoft.com/office/drawing/2014/main" id="{31DF7C35-7045-4A9A-8380-CCA19AFC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8801100"/>
            <a:ext cx="1809750" cy="289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F796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F796F"/>
                </a:solidFill>
                <a:latin typeface="Arial"/>
                <a:ea typeface="Arial"/>
                <a:cs typeface="Arial"/>
              </a:rPr>
              <a:t>Agentic system</a:t>
            </a:r>
          </a:p>
        </p:txBody>
      </p:sp>
      <p:sp>
        <p:nvSpPr>
          <p:cNvPr id="147" name="Agentic-system criterion">
            <a:extLst xmlns:a="http://schemas.openxmlformats.org/drawingml/2006/main">
              <a:ext uri="{FF2B5EF4-FFF2-40B4-BE49-F238E27FC236}">
                <a16:creationId xmlns:a16="http://schemas.microsoft.com/office/drawing/2014/main" id="{65D6AC6B-7DB5-4E65-B9D9-8857563C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8801100"/>
            <a:ext cx="6381750" cy="289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B3E4B"/>
                </a:solidFill>
                <a:latin typeface="Arial"/>
                <a:ea typeface="Arial"/>
                <a:cs typeface="Arial"/>
              </a:rPr>
              <a:t>Strict contract at termination</a:t>
            </a:r>
          </a:p>
        </p:txBody>
      </p:sp>
      <p:sp>
        <p:nvSpPr>
          <p:cNvPr id="148" name="Auxiliary score">
            <a:extLst xmlns:a="http://schemas.openxmlformats.org/drawingml/2006/main">
              <a:ext uri="{FF2B5EF4-FFF2-40B4-BE49-F238E27FC236}">
                <a16:creationId xmlns:a16="http://schemas.microsoft.com/office/drawing/2014/main" id="{29389A3E-3D3B-45EE-A306-5D94D810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9201150"/>
            <a:ext cx="824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defPPr>
            <a:lvl1pPr algn="l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1pPr>
            <a:lvl2pPr algn="l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2pPr>
            <a:lvl3pPr algn="l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3pPr>
            <a:lvl4pPr algn="l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4pPr>
            <a:lvl5pPr algn="l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5pPr>
            <a:lvl6pPr algn="l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6pPr>
            <a:lvl7pPr algn="l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7pPr>
            <a:lvl8pPr algn="l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8pPr>
            <a:lvl9pPr algn="l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57D89"/>
                </a:solidFill>
                <a:latin typeface="Arial"/>
                <a:ea typeface="Arial"/>
                <a:cs typeface="Arial"/>
              </a:rPr>
              <a:t>Goal-only is reported separately as an auxiliary score.</a:t>
            </a:r>
          </a:p>
        </p:txBody>
      </p:sp>
      <p:sp>
        <p:nvSpPr>
          <p:cNvPr id="149" name="Held-out evaluation conditions">
            <a:extLst xmlns:a="http://schemas.openxmlformats.org/drawingml/2006/main">
              <a:ext uri="{FF2B5EF4-FFF2-40B4-BE49-F238E27FC236}">
                <a16:creationId xmlns:a16="http://schemas.microsoft.com/office/drawing/2014/main" id="{ED1D5019-6808-488B-A98F-80647912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9705975"/>
            <a:ext cx="13106400" cy="289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B3E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B3E4B"/>
                </a:solidFill>
                <a:latin typeface="Arial"/>
                <a:ea typeface="Arial"/>
                <a:cs typeface="Arial"/>
              </a:rPr>
              <a:t>Held-out task combinations, instructions, object-target relations and layouts</a:t>
            </a:r>
          </a:p>
        </p:txBody>
      </p:sp>
      <p:sp>
        <p:nvSpPr>
          <p:cNvPr id="150" name="Training and evaluation boundary">
            <a:extLst xmlns:a="http://schemas.openxmlformats.org/drawingml/2006/main">
              <a:ext uri="{FF2B5EF4-FFF2-40B4-BE49-F238E27FC236}">
                <a16:creationId xmlns:a16="http://schemas.microsoft.com/office/drawing/2014/main" id="{25980DF6-0069-4D1D-914E-039CCA2F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0020300"/>
            <a:ext cx="1310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defPPr>
            <a:lvl1pPr algn="l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1pPr>
            <a:lvl2pPr algn="l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2pPr>
            <a:lvl3pPr algn="l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3pPr>
            <a:lvl4pPr algn="l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4pPr>
            <a:lvl5pPr algn="l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5pPr>
            <a:lvl6pPr algn="l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6pPr>
            <a:lvl7pPr algn="l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7pPr>
            <a:lvl8pPr algn="l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8pPr>
            <a:lvl9pPr algn="l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13" b="0">
                <a:solidFill>
                  <a:srgbClr val="657D89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57D89"/>
                </a:solidFill>
                <a:latin typeface="Arial"/>
                <a:ea typeface="Arial"/>
                <a:cs typeface="Arial"/>
              </a:rPr>
              <a:t>Evaluation trajectories are excluded from adaptation; comparisons use matched instances and budgets within each protocol.</a:t>
            </a:r>
          </a:p>
        </p:txBody>
      </p:sp>
    </p:spTree>
    <p:extLst>
      <p:ext uri="{BB962C8B-B14F-4D97-AF65-F5344CB8AC3E}">
        <p14:creationId xmlns:p14="http://schemas.microsoft.com/office/powerpoint/2010/main" val="7231328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2026-10-20T10:55:49.7970000Z</dcterms:created>
  <dcterms:modified xsi:type="dcterms:W3CDTF">2026-10-20T10:55:49.7970000Z</dcterms:modified>
</coreProperties>
</file>